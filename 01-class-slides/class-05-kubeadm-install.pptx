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kubeadm install of HA cluster: compare methods, containerd, kubeadm, CNI, join, verify, troubleshoot.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 students to kill a control plane and verify continued operation.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 × Kubernetes 工程師訓練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5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5852160" cy="548640"/>
          </a:xfrm>
          <a:prstGeom prst="roundRect">
            <a:avLst>
              <a:gd name="adj" fmla="val 16667"/>
            </a:avLst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7490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 安裝高可用 Kubernetes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hr 30 min ｜ 實作 ｜ kubeadm + containerd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安裝方式比較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64208"/>
            <a:ext cx="22860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CNCF 官方工具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標準化、可 HA 多控制平面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本課程主軸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261872"/>
            <a:ext cx="365760" cy="365760"/>
          </a:xfrm>
          <a:prstGeom prst="ellipse">
            <a:avLst/>
          </a:prstGeom>
          <a:solidFill>
            <a:srgbClr val="FF7300"/>
          </a:solidFill>
          <a:ln/>
        </p:spPr>
      </p:sp>
      <p:sp>
        <p:nvSpPr>
          <p:cNvPr id="12" name="Shape 10"/>
          <p:cNvSpPr/>
          <p:nvPr/>
        </p:nvSpPr>
        <p:spPr>
          <a:xfrm>
            <a:off x="348386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81304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k3s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1664208"/>
            <a:ext cx="22860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輕量、單一 binary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易安裝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邊緣、Lab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3F6FC"/>
          </a:solidFill>
          <a:ln w="9525">
            <a:solidFill>
              <a:srgbClr val="D8E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261872"/>
            <a:ext cx="365760" cy="365760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Shape 15"/>
          <p:cNvSpPr/>
          <p:nvPr/>
        </p:nvSpPr>
        <p:spPr>
          <a:xfrm>
            <a:off x="6272784" y="1316736"/>
            <a:ext cx="256032" cy="25603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01968" y="12435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RKE2 / 雲端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1664208"/>
            <a:ext cx="228600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RKE2：Rancher、安全性強化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雲端 (EKS/GKE)：全託管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控制平面免操作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本章採用 kubeadm + containerd，版本以 v1.36 / v1.37 為基準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安裝流程（6 大步）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280160" cy="1828800"/>
          </a:xfrm>
          <a:prstGeom prst="roundRect">
            <a:avLst>
              <a:gd name="adj" fmla="val 7143"/>
            </a:avLst>
          </a:prstGeom>
          <a:solidFill>
            <a:srgbClr val="FF730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08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0116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系統設定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737360" y="2194560"/>
            <a:ext cx="256032" cy="0"/>
          </a:xfrm>
          <a:prstGeom prst="line">
            <a:avLst/>
          </a:prstGeom>
          <a:noFill/>
          <a:ln w="31750">
            <a:solidFill>
              <a:srgbClr val="FF73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93392" y="1280160"/>
            <a:ext cx="1280160" cy="1828800"/>
          </a:xfrm>
          <a:prstGeom prst="roundRect">
            <a:avLst>
              <a:gd name="adj" fmla="val 7143"/>
            </a:avLst>
          </a:prstGeom>
          <a:solidFill>
            <a:srgbClr val="FF7300"/>
          </a:solidFill>
          <a:ln/>
        </p:spPr>
      </p:sp>
      <p:sp>
        <p:nvSpPr>
          <p:cNvPr id="10" name="Text 8"/>
          <p:cNvSpPr/>
          <p:nvPr/>
        </p:nvSpPr>
        <p:spPr>
          <a:xfrm>
            <a:off x="2039112" y="1508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39112" y="20116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73552" y="2194560"/>
            <a:ext cx="256032" cy="0"/>
          </a:xfrm>
          <a:prstGeom prst="line">
            <a:avLst/>
          </a:prstGeom>
          <a:noFill/>
          <a:ln w="31750">
            <a:solidFill>
              <a:srgbClr val="FF73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9584" y="1280160"/>
            <a:ext cx="1280160" cy="1828800"/>
          </a:xfrm>
          <a:prstGeom prst="roundRect">
            <a:avLst>
              <a:gd name="adj" fmla="val 7143"/>
            </a:avLst>
          </a:prstGeom>
          <a:solidFill>
            <a:srgbClr val="FF7300"/>
          </a:solidFill>
          <a:ln/>
        </p:spPr>
      </p:sp>
      <p:sp>
        <p:nvSpPr>
          <p:cNvPr id="14" name="Text 12"/>
          <p:cNvSpPr/>
          <p:nvPr/>
        </p:nvSpPr>
        <p:spPr>
          <a:xfrm>
            <a:off x="3575304" y="1508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75304" y="20116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9744" y="2194560"/>
            <a:ext cx="256032" cy="0"/>
          </a:xfrm>
          <a:prstGeom prst="line">
            <a:avLst/>
          </a:prstGeom>
          <a:noFill/>
          <a:ln w="31750">
            <a:solidFill>
              <a:srgbClr val="FF73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65776" y="1280160"/>
            <a:ext cx="1280160" cy="1828800"/>
          </a:xfrm>
          <a:prstGeom prst="roundRect">
            <a:avLst>
              <a:gd name="adj" fmla="val 7143"/>
            </a:avLst>
          </a:prstGeom>
          <a:solidFill>
            <a:srgbClr val="326CE5"/>
          </a:solidFill>
          <a:ln/>
        </p:spPr>
      </p:sp>
      <p:sp>
        <p:nvSpPr>
          <p:cNvPr id="18" name="Text 16"/>
          <p:cNvSpPr/>
          <p:nvPr/>
        </p:nvSpPr>
        <p:spPr>
          <a:xfrm>
            <a:off x="5111496" y="1508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初始化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11496" y="20116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控制平面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45936" y="2194560"/>
            <a:ext cx="256032" cy="0"/>
          </a:xfrm>
          <a:prstGeom prst="line">
            <a:avLst/>
          </a:prstGeom>
          <a:noFill/>
          <a:ln w="31750">
            <a:solidFill>
              <a:srgbClr val="FF73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01968" y="1280160"/>
            <a:ext cx="1280160" cy="1828800"/>
          </a:xfrm>
          <a:prstGeom prst="roundRect">
            <a:avLst>
              <a:gd name="adj" fmla="val 7143"/>
            </a:avLst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6647688" y="19202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 CNI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882128" y="2194560"/>
            <a:ext cx="256032" cy="0"/>
          </a:xfrm>
          <a:prstGeom prst="line">
            <a:avLst/>
          </a:prstGeom>
          <a:noFill/>
          <a:ln w="31750">
            <a:solidFill>
              <a:srgbClr val="FF73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1280160"/>
            <a:ext cx="1280160" cy="1828800"/>
          </a:xfrm>
          <a:prstGeom prst="roundRect">
            <a:avLst>
              <a:gd name="adj" fmla="val 7143"/>
            </a:avLst>
          </a:prstGeom>
          <a:solidFill>
            <a:srgbClr val="326CE5"/>
          </a:solidFill>
          <a:ln/>
        </p:spPr>
      </p:sp>
      <p:sp>
        <p:nvSpPr>
          <p:cNvPr id="25" name="Text 23"/>
          <p:cNvSpPr/>
          <p:nvPr/>
        </p:nvSpPr>
        <p:spPr>
          <a:xfrm>
            <a:off x="8183880" y="1508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83880" y="201168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+ worker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3832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台節點皆需完成 1–3；cp1 做 4–5；其餘控制平面/worker 做 6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步驟 1 · 基礎系統設定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926080"/>
          </a:xfrm>
          <a:prstGeom prst="roundRect">
            <a:avLst>
              <a:gd name="adj" fmla="val 2500"/>
            </a:avLst>
          </a:prstGeom>
          <a:solidFill>
            <a:srgbClr val="0E1B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swapoff -a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modprobe overlay br_netfilter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/etc/sysctl.d/k8s.conf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net.bridge.bridge-nf-call-iptables = 1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net.bridge.bridge-nf-call-ip6tables = 1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net.ipv4.ip_forward = 1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sysctl --system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關閉 swap：K8s 要求；載入核心模組；啟用網路轉發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步驟 2 · 安裝 containerd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377440"/>
          </a:xfrm>
          <a:prstGeom prst="roundRect">
            <a:avLst>
              <a:gd name="adj" fmla="val 3077"/>
            </a:avLst>
          </a:prstGeom>
          <a:solidFill>
            <a:srgbClr val="0E1B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apt-get install -y containerd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containerd config default | sudo tee /etc/containerd/config.toml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sed -i 's/SystemdCgroup = false/SystemdCgroup = true/' \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/etc/containerd/config.toml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systemctl restart containerd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 cgroup driver（SystemdCgroup=true）需與 kubelet 一致</a:t>
            </a:r>
            <a:endParaRPr lang="en-US" sz="12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企業/中國環境可另設 registry mirror 加速鏡像拉取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步驟 3 · 安裝 kubeadm/kubelet/kubectl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2468880"/>
          </a:xfrm>
          <a:prstGeom prst="roundRect">
            <a:avLst>
              <a:gd name="adj" fmla="val 2963"/>
            </a:avLst>
          </a:prstGeom>
          <a:solidFill>
            <a:srgbClr val="0E1B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-fsSL https://pkgs.k8s.io/core:/stable:/v1.36/deb/Release.key | \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sudo gpg --dearmor -o /etc/apt/keyrings/kubernetes-apt-keyring.gpg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"deb https://pkgs.k8s.io/core:/stable:/v1.36/deb/ /" &gt; kubernetes.list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apt-get install -y kubelet kubeadm kubectl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apt-mark hold kubelet kubeadm kubectl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apt-mark hold 防止意外升級，維護版本一致性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步驟 4 · 初始化控制平面（cp1）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60520" cy="2834640"/>
          </a:xfrm>
          <a:prstGeom prst="roundRect">
            <a:avLst>
              <a:gd name="adj" fmla="val 2581"/>
            </a:avLst>
          </a:prstGeom>
          <a:solidFill>
            <a:srgbClr val="EAF1FF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kubeadm-config.yaml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kubernetesVersion: v1.36.0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controlPlaneEndpoint: 192.168.10.100:6443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networking: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podSubnet: 10.200.0.0/16</a:t>
            </a:r>
            <a:endParaRPr lang="en-US" sz="12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serviceSubnet: 10.96.0.0/12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3886200" cy="2834640"/>
          </a:xfrm>
          <a:prstGeom prst="roundRect">
            <a:avLst>
              <a:gd name="adj" fmla="val 2581"/>
            </a:avLst>
          </a:prstGeom>
          <a:solidFill>
            <a:srgbClr val="0E1B33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1887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kubeadm init \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--config kubeadm-config.yaml \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--upload-certs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$HOME/.kube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cp -i /etc/kubernetes/admin.conf \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$HOME/.kube/config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controlPlaneEndpoint 指向 LB VIP，是之後擴充控制平面的關鍵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步驟 5 · 安裝 CNI（Calico）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2286000"/>
          </a:xfrm>
          <a:prstGeom prst="roundRect">
            <a:avLst>
              <a:gd name="adj" fmla="val 3200"/>
            </a:avLst>
          </a:prstGeom>
          <a:solidFill>
            <a:srgbClr val="0E1B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-LO https://raw.githubusercontent.com/projectcalico/calico/master/manifests/calico.yaml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calico.yaml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 kubectl get pods -n kube-system   # 等 calico 與 coredns Running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網段需與 CNI 設定相符（CALICO_IPV4POOL_CIDR）</a:t>
            </a:r>
            <a:endParaRPr lang="en-US" sz="12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Cilium 選配（eBPF）可在 helm 安裝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步驟 6 · 加入控制平面與 Worker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160520" cy="2286000"/>
          </a:xfrm>
          <a:prstGeom prst="roundRect">
            <a:avLst>
              <a:gd name="adj" fmla="val 3200"/>
            </a:avLst>
          </a:prstGeom>
          <a:solidFill>
            <a:srgbClr val="EAF1FF"/>
          </a:solidFill>
          <a:ln w="12700">
            <a:solidFill>
              <a:srgbClr val="FF7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加入其餘控制平面 (cp2/cp3)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kubeadm join 192.168.10.100:6443 \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--token &lt;token&gt; \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--discovery-token-ca-cert-hash sha256:&lt;hash&gt; \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--control-plane --certificate-key &lt;key&gt;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3886200" cy="2286000"/>
          </a:xfrm>
          <a:prstGeom prst="roundRect">
            <a:avLst>
              <a:gd name="adj" fmla="val 3200"/>
            </a:avLst>
          </a:prstGeom>
          <a:solidFill>
            <a:srgbClr val="EAF1FF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 Worker (w1/w2/w3)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kubeadm join 192.168.10.100:6443 \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--token &lt;token&gt; \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--discovery-token-ca-cert-hash sha256:&lt;hash&gt;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---control-plane 追加作用於控制平面；worker 不加這個旗標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驗證叢集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2286000"/>
          </a:xfrm>
          <a:prstGeom prst="roundRect">
            <a:avLst>
              <a:gd name="adj" fmla="val 3200"/>
            </a:avLst>
          </a:prstGeom>
          <a:solidFill>
            <a:srgbClr val="0E1B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nodes -o wide   # 6 台皆 Ready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-A            # 全部 Running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cluster-info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create deployment nginx --image=nginx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scale deployment nginx --replicas=3</a:t>
            </a:r>
            <a:endParaRPr lang="en-US" sz="12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EA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expose deployment nginx --port=80 --type=NodePort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部署第一個 Deployment、縮放、以 NodePort 存取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FF73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常見安裝錯誤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412480" y="320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070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cgroup driver mismatch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109728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AF1FF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12252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containerd SystemdCgroup 與 kubelet 不一致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842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卡 Pending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87452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AF1FF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20025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 未裝／Pod 網段與 CNI 不符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76148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錯誤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66160" y="265176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AF1FF"/>
          </a:solidFill>
          <a:ln/>
        </p:spPr>
      </p:sp>
      <p:sp>
        <p:nvSpPr>
          <p:cNvPr id="16" name="Text 14"/>
          <p:cNvSpPr/>
          <p:nvPr/>
        </p:nvSpPr>
        <p:spPr>
          <a:xfrm>
            <a:off x="3703320" y="277977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要求 swapoff -a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326CE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5387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6443 被佔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66160" y="342900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AF1FF"/>
          </a:solidFill>
          <a:ln/>
        </p:spPr>
      </p:sp>
      <p:sp>
        <p:nvSpPr>
          <p:cNvPr id="20" name="Text 18"/>
          <p:cNvSpPr/>
          <p:nvPr/>
        </p:nvSpPr>
        <p:spPr>
          <a:xfrm>
            <a:off x="3703320" y="35570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 apiserver 或 LB 設定錯誤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3017520" cy="658368"/>
          </a:xfrm>
          <a:prstGeom prst="roundRect">
            <a:avLst>
              <a:gd name="adj" fmla="val 11111"/>
            </a:avLst>
          </a:prstGeom>
          <a:solidFill>
            <a:srgbClr val="326CE5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315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鏡像拉取失敗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66160" y="420624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EAF1FF"/>
          </a:solidFill>
          <a:ln/>
        </p:spPr>
      </p:sp>
      <p:sp>
        <p:nvSpPr>
          <p:cNvPr id="24" name="Text 22"/>
          <p:cNvSpPr/>
          <p:nvPr/>
        </p:nvSpPr>
        <p:spPr>
          <a:xfrm>
            <a:off x="3703320" y="433425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 registry mirror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詳見 lab-05-kubeadm-install.md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7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5 · 完成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 驗證挑戰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停掉一台控制平面 VM，叢集應持續可用。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若成功完成 → 你的 K8s 已具備控制平面 HA。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5 - kubeadm 安裝高可用 Kubernetes</dc:title>
  <dc:subject>PptxGenJS Presentation</dc:subject>
  <dc:creator>AI_assist</dc:creator>
  <cp:lastModifiedBy>AI_assist</cp:lastModifiedBy>
  <cp:revision>1</cp:revision>
  <dcterms:created xsi:type="dcterms:W3CDTF">2026-08-31T04:36:39Z</dcterms:created>
  <dcterms:modified xsi:type="dcterms:W3CDTF">2026-08-31T04:36:39Z</dcterms:modified>
</cp:coreProperties>
</file>