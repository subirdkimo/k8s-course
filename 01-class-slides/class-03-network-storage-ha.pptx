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Network model, CNI, service exposure, storage (PV/PVC/StorageClass/CSI), HA.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Hand-off to Class 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7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PVE × Kubernetes 工程師訓練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8046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 3</a:t>
            </a:r>
            <a:endParaRPr lang="en-US" sz="6000" dirty="0"/>
          </a:p>
        </p:txBody>
      </p:sp>
      <p:sp>
        <p:nvSpPr>
          <p:cNvPr id="4" name="Shape 2"/>
          <p:cNvSpPr/>
          <p:nvPr/>
        </p:nvSpPr>
        <p:spPr>
          <a:xfrm>
            <a:off x="548640" y="3749040"/>
            <a:ext cx="5852160" cy="548640"/>
          </a:xfrm>
          <a:prstGeom prst="roundRect">
            <a:avLst>
              <a:gd name="adj" fmla="val 16667"/>
            </a:avLst>
          </a:prstGeom>
          <a:solidFill>
            <a:srgbClr val="326CE5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3749040"/>
            <a:ext cx="5852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K8s 網路、儲存與高可用元件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48640" y="44348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hr 30 min ｜ 理論 + Lab ｜ CNI / Storage / HA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146304" cy="457200"/>
          </a:xfrm>
          <a:prstGeom prst="roundRect">
            <a:avLst>
              <a:gd name="adj" fmla="val 31250"/>
            </a:avLst>
          </a:prstGeom>
          <a:solidFill>
            <a:srgbClr val="FF7300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27432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Kubernetes 網路模型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412480" y="32004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40233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3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每支 Pod 有獨立 IP，可跨節點直連</a:t>
            </a:r>
            <a:endParaRPr lang="en-US" sz="1500" dirty="0"/>
          </a:p>
          <a:p>
            <a:pPr marL="342900" indent="-342900">
              <a:lnSpc>
                <a:spcPts val="3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 之間不需 NAT 即可互通</a:t>
            </a:r>
            <a:endParaRPr lang="en-US" sz="1500" dirty="0"/>
          </a:p>
          <a:p>
            <a:pPr marL="342900" indent="-342900">
              <a:lnSpc>
                <a:spcPts val="3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CNI (Container Network Interface) 實作 Pod 網路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663440" y="1097280"/>
            <a:ext cx="4023360" cy="2926080"/>
          </a:xfrm>
          <a:prstGeom prst="roundRect">
            <a:avLst>
              <a:gd name="adj" fmla="val 2500"/>
            </a:avLst>
          </a:prstGeom>
          <a:solidFill>
            <a:srgbClr val="F3F6FC"/>
          </a:solidFill>
          <a:ln w="9525">
            <a:solidFill>
              <a:srgbClr val="D8E0E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846320" y="1261872"/>
            <a:ext cx="365760" cy="365760"/>
          </a:xfrm>
          <a:prstGeom prst="ellipse">
            <a:avLst/>
          </a:prstGeom>
          <a:solidFill>
            <a:srgbClr val="326CE5"/>
          </a:solidFill>
          <a:ln/>
        </p:spPr>
      </p:sp>
      <p:sp>
        <p:nvSpPr>
          <p:cNvPr id="8" name="Shape 6"/>
          <p:cNvSpPr/>
          <p:nvPr/>
        </p:nvSpPr>
        <p:spPr>
          <a:xfrm>
            <a:off x="4901184" y="1316736"/>
            <a:ext cx="256032" cy="256032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5230368" y="1243584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CNI 常見選項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846320" y="1664208"/>
            <a:ext cx="3657600" cy="2267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Calico：層三網格、支援 NetworkPolicy（本課程採用）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Cilium：eBPF、可觀測性佳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Flannel：簡單、易上手、NetworkPolicy 較弱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4160520"/>
            <a:ext cx="8229600" cy="502920"/>
          </a:xfrm>
          <a:prstGeom prst="roundRect">
            <a:avLst>
              <a:gd name="adj" fmla="val 14545"/>
            </a:avLst>
          </a:prstGeom>
          <a:solidFill>
            <a:srgbClr val="EAF1FF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4224528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Pod↔Pod 跨節點：CNI 透過 overlay (VXLAN) 或 direct routing (Calico BGP) 打通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146304" cy="457200"/>
          </a:xfrm>
          <a:prstGeom prst="roundRect">
            <a:avLst>
              <a:gd name="adj" fmla="val 31250"/>
            </a:avLst>
          </a:prstGeom>
          <a:solidFill>
            <a:srgbClr val="FF7300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27432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服務暴露方式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412480" y="32004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2651760" cy="2834640"/>
          </a:xfrm>
          <a:prstGeom prst="roundRect">
            <a:avLst>
              <a:gd name="adj" fmla="val 2759"/>
            </a:avLst>
          </a:prstGeom>
          <a:solidFill>
            <a:srgbClr val="F3F6FC"/>
          </a:solidFill>
          <a:ln w="9525">
            <a:solidFill>
              <a:srgbClr val="D8E0E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261872"/>
            <a:ext cx="365760" cy="365760"/>
          </a:xfrm>
          <a:prstGeom prst="ellipse">
            <a:avLst/>
          </a:prstGeom>
          <a:solidFill>
            <a:srgbClr val="326CE5"/>
          </a:solidFill>
          <a:ln/>
        </p:spPr>
      </p:sp>
      <p:sp>
        <p:nvSpPr>
          <p:cNvPr id="7" name="Shape 5"/>
          <p:cNvSpPr/>
          <p:nvPr/>
        </p:nvSpPr>
        <p:spPr>
          <a:xfrm>
            <a:off x="694944" y="1316736"/>
            <a:ext cx="256032" cy="256032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1024128" y="1243584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ClusterIP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1664208"/>
            <a:ext cx="2286000" cy="2176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叢集內虛擬 IP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僅叢集內可達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預設型別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46120" y="1097280"/>
            <a:ext cx="2651760" cy="2834640"/>
          </a:xfrm>
          <a:prstGeom prst="roundRect">
            <a:avLst>
              <a:gd name="adj" fmla="val 2759"/>
            </a:avLst>
          </a:prstGeom>
          <a:solidFill>
            <a:srgbClr val="F3F6FC"/>
          </a:solidFill>
          <a:ln w="9525">
            <a:solidFill>
              <a:srgbClr val="D8E0E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429000" y="1261872"/>
            <a:ext cx="365760" cy="365760"/>
          </a:xfrm>
          <a:prstGeom prst="ellipse">
            <a:avLst/>
          </a:prstGeom>
          <a:solidFill>
            <a:srgbClr val="FF7300"/>
          </a:solidFill>
          <a:ln/>
        </p:spPr>
      </p:sp>
      <p:sp>
        <p:nvSpPr>
          <p:cNvPr id="12" name="Shape 10"/>
          <p:cNvSpPr/>
          <p:nvPr/>
        </p:nvSpPr>
        <p:spPr>
          <a:xfrm>
            <a:off x="3483864" y="1316736"/>
            <a:ext cx="256032" cy="256032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3813048" y="1243584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NodePort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429000" y="1664208"/>
            <a:ext cx="2286000" cy="2176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每節點開某連接埠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導向 Service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測試用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035040" y="1097280"/>
            <a:ext cx="2651760" cy="2834640"/>
          </a:xfrm>
          <a:prstGeom prst="roundRect">
            <a:avLst>
              <a:gd name="adj" fmla="val 2759"/>
            </a:avLst>
          </a:prstGeom>
          <a:solidFill>
            <a:srgbClr val="F3F6FC"/>
          </a:solidFill>
          <a:ln w="9525">
            <a:solidFill>
              <a:srgbClr val="D8E0E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17920" y="1261872"/>
            <a:ext cx="365760" cy="365760"/>
          </a:xfrm>
          <a:prstGeom prst="ellipse">
            <a:avLst/>
          </a:prstGeom>
          <a:solidFill>
            <a:srgbClr val="326CE5"/>
          </a:solidFill>
          <a:ln/>
        </p:spPr>
      </p:sp>
      <p:sp>
        <p:nvSpPr>
          <p:cNvPr id="17" name="Shape 15"/>
          <p:cNvSpPr/>
          <p:nvPr/>
        </p:nvSpPr>
        <p:spPr>
          <a:xfrm>
            <a:off x="6272784" y="1316736"/>
            <a:ext cx="256032" cy="256032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8" name="Text 16"/>
          <p:cNvSpPr/>
          <p:nvPr/>
        </p:nvSpPr>
        <p:spPr>
          <a:xfrm>
            <a:off x="6601968" y="1243584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LoadBalancer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217920" y="1664208"/>
            <a:ext cx="2286000" cy="2176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需外部 LB 提供 4 層 VIP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PVE 上用 MetalLB / PVE Dynamic LB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對外正式服務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4114800"/>
            <a:ext cx="8229600" cy="548640"/>
          </a:xfrm>
          <a:prstGeom prst="roundRect">
            <a:avLst>
              <a:gd name="adj" fmla="val 13333"/>
            </a:avLst>
          </a:prstGeom>
          <a:solidFill>
            <a:srgbClr val="EAF1FF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4187952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Ingress：七層（HTTP/HTTPS）路由，依 host/path 轉發給後端 Service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146304" cy="457200"/>
          </a:xfrm>
          <a:prstGeom prst="roundRect">
            <a:avLst>
              <a:gd name="adj" fmla="val 31250"/>
            </a:avLst>
          </a:prstGeom>
          <a:solidFill>
            <a:srgbClr val="FF7300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27432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PVE 上的 LoadBalancer：MetalLB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412480" y="32004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4023360" cy="2011680"/>
          </a:xfrm>
          <a:prstGeom prst="roundRect">
            <a:avLst>
              <a:gd name="adj" fmla="val 3636"/>
            </a:avLst>
          </a:prstGeom>
          <a:solidFill>
            <a:srgbClr val="F3F6FC"/>
          </a:solidFill>
          <a:ln w="9525">
            <a:solidFill>
              <a:srgbClr val="D8E0E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261872"/>
            <a:ext cx="365760" cy="365760"/>
          </a:xfrm>
          <a:prstGeom prst="ellipse">
            <a:avLst/>
          </a:prstGeom>
          <a:solidFill>
            <a:srgbClr val="FF7300"/>
          </a:solidFill>
          <a:ln/>
        </p:spPr>
      </p:sp>
      <p:sp>
        <p:nvSpPr>
          <p:cNvPr id="7" name="Shape 5"/>
          <p:cNvSpPr/>
          <p:nvPr/>
        </p:nvSpPr>
        <p:spPr>
          <a:xfrm>
            <a:off x="694944" y="1316736"/>
            <a:ext cx="256032" cy="256032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1024128" y="1243584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為什麼需要 MetalLB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1664208"/>
            <a:ext cx="3657600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K8s 的 LoadBalancer 型別需要外部提供第4層 VIP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雲端（EKS/GKE）內建；裸機/PVE 需自行提供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MetalLB 是裸機方案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663440" y="1097280"/>
            <a:ext cx="4023360" cy="2011680"/>
          </a:xfrm>
          <a:prstGeom prst="roundRect">
            <a:avLst>
              <a:gd name="adj" fmla="val 3636"/>
            </a:avLst>
          </a:prstGeom>
          <a:solidFill>
            <a:srgbClr val="F3F6FC"/>
          </a:solidFill>
          <a:ln w="9525">
            <a:solidFill>
              <a:srgbClr val="D8E0E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846320" y="1261872"/>
            <a:ext cx="365760" cy="365760"/>
          </a:xfrm>
          <a:prstGeom prst="ellipse">
            <a:avLst/>
          </a:prstGeom>
          <a:solidFill>
            <a:srgbClr val="326CE5"/>
          </a:solidFill>
          <a:ln/>
        </p:spPr>
      </p:sp>
      <p:sp>
        <p:nvSpPr>
          <p:cNvPr id="12" name="Shape 10"/>
          <p:cNvSpPr/>
          <p:nvPr/>
        </p:nvSpPr>
        <p:spPr>
          <a:xfrm>
            <a:off x="4901184" y="1316736"/>
            <a:ext cx="256032" cy="256032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5230368" y="1243584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運作方式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846320" y="1664208"/>
            <a:ext cx="3657600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宣告 IPAddressPool（如 192.168.10.200-220）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為 LoadBalancer Service 分配外部 IP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Layer2 模式經 ARP 回應（簡單）或 BGP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48640" y="3291840"/>
            <a:ext cx="8046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PVE 9.2 亦內建 Dynamic Load Balancer，可作為替代</a:t>
            </a:r>
            <a:endParaRPr lang="en-US" sz="1300" dirty="0"/>
          </a:p>
          <a:p>
            <a:pPr marL="342900" indent="-342900">
              <a:lnSpc>
                <a:spcPts val="24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kube-proxy 將 VIP 流量導向後端 Service Pod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146304" cy="457200"/>
          </a:xfrm>
          <a:prstGeom prst="roundRect">
            <a:avLst>
              <a:gd name="adj" fmla="val 31250"/>
            </a:avLst>
          </a:prstGeom>
          <a:solidFill>
            <a:srgbClr val="FF7300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27432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儲存抽象：PV / PVC / StorageClass / CSI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412480" y="32004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2651760" cy="2286000"/>
          </a:xfrm>
          <a:prstGeom prst="roundRect">
            <a:avLst>
              <a:gd name="adj" fmla="val 3200"/>
            </a:avLst>
          </a:prstGeom>
          <a:solidFill>
            <a:srgbClr val="F3F6FC"/>
          </a:solidFill>
          <a:ln w="9525">
            <a:solidFill>
              <a:srgbClr val="D8E0E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261872"/>
            <a:ext cx="365760" cy="365760"/>
          </a:xfrm>
          <a:prstGeom prst="ellipse">
            <a:avLst/>
          </a:prstGeom>
          <a:solidFill>
            <a:srgbClr val="326CE5"/>
          </a:solidFill>
          <a:ln/>
        </p:spPr>
      </p:sp>
      <p:sp>
        <p:nvSpPr>
          <p:cNvPr id="7" name="Shape 5"/>
          <p:cNvSpPr/>
          <p:nvPr/>
        </p:nvSpPr>
        <p:spPr>
          <a:xfrm>
            <a:off x="694944" y="1316736"/>
            <a:ext cx="256032" cy="256032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1024128" y="1243584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PV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1664208"/>
            <a:ext cx="2286000" cy="1627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PersistentVolume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實際儲存磁碟區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由管理員或 SC 建立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46120" y="1097280"/>
            <a:ext cx="2651760" cy="2286000"/>
          </a:xfrm>
          <a:prstGeom prst="roundRect">
            <a:avLst>
              <a:gd name="adj" fmla="val 3200"/>
            </a:avLst>
          </a:prstGeom>
          <a:solidFill>
            <a:srgbClr val="F3F6FC"/>
          </a:solidFill>
          <a:ln w="9525">
            <a:solidFill>
              <a:srgbClr val="D8E0E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429000" y="1261872"/>
            <a:ext cx="365760" cy="365760"/>
          </a:xfrm>
          <a:prstGeom prst="ellipse">
            <a:avLst/>
          </a:prstGeom>
          <a:solidFill>
            <a:srgbClr val="FF7300"/>
          </a:solidFill>
          <a:ln/>
        </p:spPr>
      </p:sp>
      <p:sp>
        <p:nvSpPr>
          <p:cNvPr id="12" name="Shape 10"/>
          <p:cNvSpPr/>
          <p:nvPr/>
        </p:nvSpPr>
        <p:spPr>
          <a:xfrm>
            <a:off x="3483864" y="1316736"/>
            <a:ext cx="256032" cy="256032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3813048" y="1243584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PVC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429000" y="1664208"/>
            <a:ext cx="2286000" cy="1627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PersistentVolumeClaim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應用宣告容量/存取模式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動態綁定 PV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035040" y="1097280"/>
            <a:ext cx="2651760" cy="2286000"/>
          </a:xfrm>
          <a:prstGeom prst="roundRect">
            <a:avLst>
              <a:gd name="adj" fmla="val 3200"/>
            </a:avLst>
          </a:prstGeom>
          <a:solidFill>
            <a:srgbClr val="F3F6FC"/>
          </a:solidFill>
          <a:ln w="9525">
            <a:solidFill>
              <a:srgbClr val="D8E0E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17920" y="1261872"/>
            <a:ext cx="365760" cy="365760"/>
          </a:xfrm>
          <a:prstGeom prst="ellipse">
            <a:avLst/>
          </a:prstGeom>
          <a:solidFill>
            <a:srgbClr val="326CE5"/>
          </a:solidFill>
          <a:ln/>
        </p:spPr>
      </p:sp>
      <p:sp>
        <p:nvSpPr>
          <p:cNvPr id="17" name="Shape 15"/>
          <p:cNvSpPr/>
          <p:nvPr/>
        </p:nvSpPr>
        <p:spPr>
          <a:xfrm>
            <a:off x="6272784" y="1316736"/>
            <a:ext cx="256032" cy="256032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8" name="Text 16"/>
          <p:cNvSpPr/>
          <p:nvPr/>
        </p:nvSpPr>
        <p:spPr>
          <a:xfrm>
            <a:off x="6601968" y="1243584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StorageClass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217920" y="1664208"/>
            <a:ext cx="2286000" cy="1627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描述儲存類型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提供動態供應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如 rbd-ceph / local-path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3566160"/>
            <a:ext cx="8229600" cy="1005840"/>
          </a:xfrm>
          <a:prstGeom prst="roundRect">
            <a:avLst>
              <a:gd name="adj" fmla="val 7273"/>
            </a:avLst>
          </a:prstGeom>
          <a:solidFill>
            <a:srgbClr val="F3F6FC"/>
          </a:solidFill>
          <a:ln w="9525">
            <a:solidFill>
              <a:srgbClr val="D8E0E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0080" y="3730752"/>
            <a:ext cx="365760" cy="365760"/>
          </a:xfrm>
          <a:prstGeom prst="ellipse">
            <a:avLst/>
          </a:prstGeom>
          <a:solidFill>
            <a:srgbClr val="FF7300"/>
          </a:solidFill>
          <a:ln/>
        </p:spPr>
      </p:sp>
      <p:sp>
        <p:nvSpPr>
          <p:cNvPr id="22" name="Shape 20"/>
          <p:cNvSpPr/>
          <p:nvPr/>
        </p:nvSpPr>
        <p:spPr>
          <a:xfrm>
            <a:off x="694944" y="3785616"/>
            <a:ext cx="256032" cy="256032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3" name="Text 21"/>
          <p:cNvSpPr/>
          <p:nvPr/>
        </p:nvSpPr>
        <p:spPr>
          <a:xfrm>
            <a:off x="1024128" y="3712464"/>
            <a:ext cx="7543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CSI (Container Storage Interface)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40080" y="4133088"/>
            <a:ext cx="7863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標準連接 K8s 與儲存後端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ceph-csi（RBD/CephFS）、local-path-provisioner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支援動態供應、快照、擴充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57200" y="48920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RWO→RBD/Ceph；RWX→NFS/CephFS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146304" cy="457200"/>
          </a:xfrm>
          <a:prstGeom prst="roundRect">
            <a:avLst>
              <a:gd name="adj" fmla="val 31250"/>
            </a:avLst>
          </a:prstGeom>
          <a:solidFill>
            <a:srgbClr val="FF7300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27432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存取模式與有狀態應用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412480" y="32004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4023360" cy="1920240"/>
          </a:xfrm>
          <a:prstGeom prst="roundRect">
            <a:avLst>
              <a:gd name="adj" fmla="val 3810"/>
            </a:avLst>
          </a:prstGeom>
          <a:solidFill>
            <a:srgbClr val="F3F6FC"/>
          </a:solidFill>
          <a:ln w="9525">
            <a:solidFill>
              <a:srgbClr val="D8E0E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261872"/>
            <a:ext cx="365760" cy="365760"/>
          </a:xfrm>
          <a:prstGeom prst="ellipse">
            <a:avLst/>
          </a:prstGeom>
          <a:solidFill>
            <a:srgbClr val="326CE5"/>
          </a:solidFill>
          <a:ln/>
        </p:spPr>
      </p:sp>
      <p:sp>
        <p:nvSpPr>
          <p:cNvPr id="7" name="Shape 5"/>
          <p:cNvSpPr/>
          <p:nvPr/>
        </p:nvSpPr>
        <p:spPr>
          <a:xfrm>
            <a:off x="694944" y="1316736"/>
            <a:ext cx="256032" cy="256032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1024128" y="1243584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存取模式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1664208"/>
            <a:ext cx="365760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RWO：單節點讀寫（RBD/Ceph 常見）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ROX：唯讀多節點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RWX：多節點可寫（NFS/CephFS）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663440" y="1097280"/>
            <a:ext cx="4023360" cy="1920240"/>
          </a:xfrm>
          <a:prstGeom prst="roundRect">
            <a:avLst>
              <a:gd name="adj" fmla="val 3810"/>
            </a:avLst>
          </a:prstGeom>
          <a:solidFill>
            <a:srgbClr val="F3F6FC"/>
          </a:solidFill>
          <a:ln w="9525">
            <a:solidFill>
              <a:srgbClr val="D8E0E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846320" y="1261872"/>
            <a:ext cx="365760" cy="365760"/>
          </a:xfrm>
          <a:prstGeom prst="ellipse">
            <a:avLst/>
          </a:prstGeom>
          <a:solidFill>
            <a:srgbClr val="FF7300"/>
          </a:solidFill>
          <a:ln/>
        </p:spPr>
      </p:sp>
      <p:sp>
        <p:nvSpPr>
          <p:cNvPr id="12" name="Shape 10"/>
          <p:cNvSpPr/>
          <p:nvPr/>
        </p:nvSpPr>
        <p:spPr>
          <a:xfrm>
            <a:off x="4901184" y="1316736"/>
            <a:ext cx="256032" cy="256032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5230368" y="1243584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StatefulSet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846320" y="1664208"/>
            <a:ext cx="365760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每個 Pod 有穩定、唯一的身分（序號）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每個 Pod 綁定獨立 PVC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適合資料庫、訊息佇列等有狀態應用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48640" y="3200400"/>
            <a:ext cx="8046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無狀態應用（Web/API）用 Deployment</a:t>
            </a:r>
            <a:endParaRPr lang="en-US" sz="1400" dirty="0"/>
          </a:p>
          <a:p>
            <a:pPr marL="342900" indent="-342900">
              <a:lnSpc>
                <a:spcPts val="24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有狀態應用（DB）用 StatefulSet + PVC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146304" cy="457200"/>
          </a:xfrm>
          <a:prstGeom prst="roundRect">
            <a:avLst>
              <a:gd name="adj" fmla="val 31250"/>
            </a:avLst>
          </a:prstGeom>
          <a:solidFill>
            <a:srgbClr val="FF7300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27432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高可用（HA）原理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412480" y="32004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4023360" cy="2011680"/>
          </a:xfrm>
          <a:prstGeom prst="roundRect">
            <a:avLst>
              <a:gd name="adj" fmla="val 3636"/>
            </a:avLst>
          </a:prstGeom>
          <a:solidFill>
            <a:srgbClr val="F3F6FC"/>
          </a:solidFill>
          <a:ln w="9525">
            <a:solidFill>
              <a:srgbClr val="D8E0E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261872"/>
            <a:ext cx="365760" cy="365760"/>
          </a:xfrm>
          <a:prstGeom prst="ellipse">
            <a:avLst/>
          </a:prstGeom>
          <a:solidFill>
            <a:srgbClr val="326CE5"/>
          </a:solidFill>
          <a:ln/>
        </p:spPr>
      </p:sp>
      <p:sp>
        <p:nvSpPr>
          <p:cNvPr id="7" name="Shape 5"/>
          <p:cNvSpPr/>
          <p:nvPr/>
        </p:nvSpPr>
        <p:spPr>
          <a:xfrm>
            <a:off x="694944" y="1316736"/>
            <a:ext cx="256032" cy="256032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1024128" y="1243584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控制平面 HA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1664208"/>
            <a:ext cx="3657600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≥3 控制平面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etcd 奇數成員形成 quorum（多數決）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需 LB 把流量分散到多個 apiserver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663440" y="1097280"/>
            <a:ext cx="4023360" cy="2011680"/>
          </a:xfrm>
          <a:prstGeom prst="roundRect">
            <a:avLst>
              <a:gd name="adj" fmla="val 3636"/>
            </a:avLst>
          </a:prstGeom>
          <a:solidFill>
            <a:srgbClr val="F3F6FC"/>
          </a:solidFill>
          <a:ln w="9525">
            <a:solidFill>
              <a:srgbClr val="D8E0E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846320" y="1261872"/>
            <a:ext cx="365760" cy="365760"/>
          </a:xfrm>
          <a:prstGeom prst="ellipse">
            <a:avLst/>
          </a:prstGeom>
          <a:solidFill>
            <a:srgbClr val="FF7300"/>
          </a:solidFill>
          <a:ln/>
        </p:spPr>
      </p:sp>
      <p:sp>
        <p:nvSpPr>
          <p:cNvPr id="12" name="Shape 10"/>
          <p:cNvSpPr/>
          <p:nvPr/>
        </p:nvSpPr>
        <p:spPr>
          <a:xfrm>
            <a:off x="4901184" y="1316736"/>
            <a:ext cx="256032" cy="256032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5230368" y="1243584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工作負載 HA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846320" y="1664208"/>
            <a:ext cx="3657600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&gt;1 副本，跨不同 worker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節點故障→controller 在他處重建 Pod（自癒）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PDB 控制自願中斷最少可用數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48640" y="3291840"/>
            <a:ext cx="8046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在 PVE 上：控制平面 / worker VM 分佈於不同 PVE 節點，避免單點故障</a:t>
            </a:r>
            <a:endParaRPr lang="en-US" sz="1300" dirty="0"/>
          </a:p>
          <a:p>
            <a:pPr marL="342900" indent="-342900">
              <a:lnSpc>
                <a:spcPts val="24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PVE HA（基礎設施層）＋ K8s HA（應用層）雙層保障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146304" cy="457200"/>
          </a:xfrm>
          <a:prstGeom prst="roundRect">
            <a:avLst>
              <a:gd name="adj" fmla="val 31250"/>
            </a:avLst>
          </a:prstGeom>
          <a:solidFill>
            <a:srgbClr val="FF7300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27432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分散放置示意（PVE × K8s 結合）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412480" y="32004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2606040" cy="2926080"/>
          </a:xfrm>
          <a:prstGeom prst="roundRect">
            <a:avLst>
              <a:gd name="adj" fmla="val 3509"/>
            </a:avLst>
          </a:prstGeom>
          <a:solidFill>
            <a:srgbClr val="F3F6FC"/>
          </a:solidFill>
          <a:ln w="12700">
            <a:solidFill>
              <a:srgbClr val="FF73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1371600"/>
            <a:ext cx="2331720" cy="457200"/>
          </a:xfrm>
          <a:prstGeom prst="roundRect">
            <a:avLst>
              <a:gd name="adj" fmla="val 16000"/>
            </a:avLst>
          </a:prstGeom>
          <a:solidFill>
            <a:srgbClr val="FF7300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1426464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PVE Node 1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868680" y="2011680"/>
            <a:ext cx="1783080" cy="548640"/>
          </a:xfrm>
          <a:prstGeom prst="roundRect">
            <a:avLst>
              <a:gd name="adj" fmla="val 13333"/>
            </a:avLst>
          </a:prstGeom>
          <a:solidFill>
            <a:srgbClr val="326CE5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2121408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cp1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68680" y="2697480"/>
            <a:ext cx="1783080" cy="548640"/>
          </a:xfrm>
          <a:prstGeom prst="roundRect">
            <a:avLst>
              <a:gd name="adj" fmla="val 13333"/>
            </a:avLst>
          </a:prstGeom>
          <a:solidFill>
            <a:srgbClr val="326CE5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2807208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w1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94360" y="356616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共用 Ceph 儲存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200400" y="1188720"/>
            <a:ext cx="2606040" cy="2926080"/>
          </a:xfrm>
          <a:prstGeom prst="roundRect">
            <a:avLst>
              <a:gd name="adj" fmla="val 3509"/>
            </a:avLst>
          </a:prstGeom>
          <a:solidFill>
            <a:srgbClr val="F3F6FC"/>
          </a:solidFill>
          <a:ln w="12700">
            <a:solidFill>
              <a:srgbClr val="FF730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337560" y="1371600"/>
            <a:ext cx="2331720" cy="457200"/>
          </a:xfrm>
          <a:prstGeom prst="roundRect">
            <a:avLst>
              <a:gd name="adj" fmla="val 16000"/>
            </a:avLst>
          </a:prstGeom>
          <a:solidFill>
            <a:srgbClr val="FF7300"/>
          </a:solidFill>
          <a:ln/>
        </p:spPr>
      </p:sp>
      <p:sp>
        <p:nvSpPr>
          <p:cNvPr id="15" name="Text 13"/>
          <p:cNvSpPr/>
          <p:nvPr/>
        </p:nvSpPr>
        <p:spPr>
          <a:xfrm>
            <a:off x="3337560" y="1426464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PVE Node 2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611880" y="2011680"/>
            <a:ext cx="1783080" cy="548640"/>
          </a:xfrm>
          <a:prstGeom prst="roundRect">
            <a:avLst>
              <a:gd name="adj" fmla="val 13333"/>
            </a:avLst>
          </a:prstGeom>
          <a:solidFill>
            <a:srgbClr val="326CE5"/>
          </a:solidFill>
          <a:ln/>
        </p:spPr>
      </p:sp>
      <p:sp>
        <p:nvSpPr>
          <p:cNvPr id="17" name="Text 15"/>
          <p:cNvSpPr/>
          <p:nvPr/>
        </p:nvSpPr>
        <p:spPr>
          <a:xfrm>
            <a:off x="3611880" y="2121408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cp2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611880" y="2697480"/>
            <a:ext cx="1783080" cy="548640"/>
          </a:xfrm>
          <a:prstGeom prst="roundRect">
            <a:avLst>
              <a:gd name="adj" fmla="val 13333"/>
            </a:avLst>
          </a:prstGeom>
          <a:solidFill>
            <a:srgbClr val="326CE5"/>
          </a:solidFill>
          <a:ln/>
        </p:spPr>
      </p:sp>
      <p:sp>
        <p:nvSpPr>
          <p:cNvPr id="19" name="Text 17"/>
          <p:cNvSpPr/>
          <p:nvPr/>
        </p:nvSpPr>
        <p:spPr>
          <a:xfrm>
            <a:off x="3611880" y="2807208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w2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337560" y="356616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共用 Ceph 儲存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943600" y="1188720"/>
            <a:ext cx="2606040" cy="2926080"/>
          </a:xfrm>
          <a:prstGeom prst="roundRect">
            <a:avLst>
              <a:gd name="adj" fmla="val 3509"/>
            </a:avLst>
          </a:prstGeom>
          <a:solidFill>
            <a:srgbClr val="F3F6FC"/>
          </a:solidFill>
          <a:ln w="12700">
            <a:solidFill>
              <a:srgbClr val="FF730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080760" y="1371600"/>
            <a:ext cx="2331720" cy="457200"/>
          </a:xfrm>
          <a:prstGeom prst="roundRect">
            <a:avLst>
              <a:gd name="adj" fmla="val 16000"/>
            </a:avLst>
          </a:prstGeom>
          <a:solidFill>
            <a:srgbClr val="FF7300"/>
          </a:solidFill>
          <a:ln/>
        </p:spPr>
      </p:sp>
      <p:sp>
        <p:nvSpPr>
          <p:cNvPr id="23" name="Text 21"/>
          <p:cNvSpPr/>
          <p:nvPr/>
        </p:nvSpPr>
        <p:spPr>
          <a:xfrm>
            <a:off x="6080760" y="1426464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PVE Node 3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355080" y="2011680"/>
            <a:ext cx="1783080" cy="548640"/>
          </a:xfrm>
          <a:prstGeom prst="roundRect">
            <a:avLst>
              <a:gd name="adj" fmla="val 13333"/>
            </a:avLst>
          </a:prstGeom>
          <a:solidFill>
            <a:srgbClr val="326CE5"/>
          </a:solidFill>
          <a:ln/>
        </p:spPr>
      </p:sp>
      <p:sp>
        <p:nvSpPr>
          <p:cNvPr id="25" name="Text 23"/>
          <p:cNvSpPr/>
          <p:nvPr/>
        </p:nvSpPr>
        <p:spPr>
          <a:xfrm>
            <a:off x="6355080" y="2121408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cp3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355080" y="2697480"/>
            <a:ext cx="1783080" cy="548640"/>
          </a:xfrm>
          <a:prstGeom prst="roundRect">
            <a:avLst>
              <a:gd name="adj" fmla="val 13333"/>
            </a:avLst>
          </a:prstGeom>
          <a:solidFill>
            <a:srgbClr val="326CE5"/>
          </a:solidFill>
          <a:ln/>
        </p:spPr>
      </p:sp>
      <p:sp>
        <p:nvSpPr>
          <p:cNvPr id="27" name="Text 25"/>
          <p:cNvSpPr/>
          <p:nvPr/>
        </p:nvSpPr>
        <p:spPr>
          <a:xfrm>
            <a:off x="6355080" y="2807208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w3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080760" y="356616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共用 Ceph 儲存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57200" y="48920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分散控制平面與 worker 於不同 PVE 節點，才能避免單點故障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146304" cy="457200"/>
          </a:xfrm>
          <a:prstGeom prst="roundRect">
            <a:avLst>
              <a:gd name="adj" fmla="val 31250"/>
            </a:avLst>
          </a:prstGeom>
          <a:solidFill>
            <a:srgbClr val="FF7300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27432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 3 實作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412480" y="32004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097280"/>
            <a:ext cx="80467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3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建立 StorageClass + PVC，確認 Bound</a:t>
            </a:r>
            <a:endParaRPr lang="en-US" sz="1500" dirty="0"/>
          </a:p>
          <a:p>
            <a:pPr marL="342900" indent="-342900">
              <a:lnSpc>
                <a:spcPts val="3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部署 StatefulSet（每個 Pod 獨立磁碟）</a:t>
            </a:r>
            <a:endParaRPr lang="en-US" sz="1500" dirty="0"/>
          </a:p>
          <a:p>
            <a:pPr marL="342900" indent="-342900">
              <a:lnSpc>
                <a:spcPts val="3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安裝 MetalLB 並取得 LoadBalancer 外部 IP</a:t>
            </a:r>
            <a:endParaRPr lang="en-US" sz="1500" dirty="0"/>
          </a:p>
          <a:p>
            <a:pPr marL="342900" indent="-342900">
              <a:lnSpc>
                <a:spcPts val="3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驗證 NetworkPolicy（限制 Pod 間流量）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48920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詳見 lab-03-network-storage-ha.md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E1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7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3 · 完成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8046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下一步：架構規劃與 VM 建置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把原理落地成 PVE 上的實體配置。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292608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網路、儲存、HA 三塊地基已備齊，Class 4 起開始實作。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Class 3 - K8s 網路、儲存與高可用</dc:title>
  <dc:subject>PptxGenJS Presentation</dc:subject>
  <dc:creator>AI_assist</dc:creator>
  <cp:lastModifiedBy>AI_assist</cp:lastModifiedBy>
  <cp:revision>1</cp:revision>
  <dcterms:created xsi:type="dcterms:W3CDTF">2026-08-31T04:35:45Z</dcterms:created>
  <dcterms:modified xsi:type="dcterms:W3CDTF">2026-08-31T04:35:45Z</dcterms:modified>
</cp:coreProperties>
</file>