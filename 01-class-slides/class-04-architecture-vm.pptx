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6-VM HA architecture on PVE, VM best practices, network/storage planning, build VMs.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Hand-off to Class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 × Kubernetes 工程師訓練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4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548640" y="3749040"/>
            <a:ext cx="6035040" cy="548640"/>
          </a:xfrm>
          <a:prstGeom prst="roundRect">
            <a:avLst>
              <a:gd name="adj" fmla="val 16667"/>
            </a:avLst>
          </a:prstGeom>
          <a:solidFill>
            <a:srgbClr val="FF73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7490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架構規劃與節點 VM 建置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hr 15 min ｜ 實作 ｜ 6 台節點 VM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生產架構：6 台節點 VM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371600" cy="41148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0" y="1143000"/>
            <a:ext cx="1737360" cy="41148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1188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主機名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66160" y="1143000"/>
            <a:ext cx="1005840" cy="41148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1887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vCPU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143000"/>
            <a:ext cx="1005840" cy="41148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1887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77840" y="1143000"/>
            <a:ext cx="1280160" cy="41148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14" name="Text 12"/>
          <p:cNvSpPr/>
          <p:nvPr/>
        </p:nvSpPr>
        <p:spPr>
          <a:xfrm>
            <a:off x="5577840" y="11887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磁碟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0" y="1143000"/>
            <a:ext cx="2377440" cy="41148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放置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1554480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600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控制平面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828800" y="1554480"/>
            <a:ext cx="1737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16002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k8s-cp1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566160" y="1554480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16002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0" y="1554480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16002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577840" y="1554480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16002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58000" y="1554480"/>
            <a:ext cx="2377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16002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 Node 1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1938528"/>
            <a:ext cx="1371600" cy="384048"/>
          </a:xfrm>
          <a:prstGeom prst="rect">
            <a:avLst/>
          </a:prstGeom>
          <a:solidFill>
            <a:srgbClr val="EAF1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19842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控制平面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828800" y="1938528"/>
            <a:ext cx="1737360" cy="384048"/>
          </a:xfrm>
          <a:prstGeom prst="rect">
            <a:avLst/>
          </a:prstGeom>
          <a:solidFill>
            <a:srgbClr val="EAF1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0" y="19842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k8s-cp2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566160" y="1938528"/>
            <a:ext cx="1005840" cy="384048"/>
          </a:xfrm>
          <a:prstGeom prst="rect">
            <a:avLst/>
          </a:prstGeom>
          <a:solidFill>
            <a:srgbClr val="EAF1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66160" y="19842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0" y="1938528"/>
            <a:ext cx="1005840" cy="384048"/>
          </a:xfrm>
          <a:prstGeom prst="rect">
            <a:avLst/>
          </a:prstGeom>
          <a:solidFill>
            <a:srgbClr val="EAF1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0" y="19842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577840" y="1938528"/>
            <a:ext cx="1280160" cy="384048"/>
          </a:xfrm>
          <a:prstGeom prst="rect">
            <a:avLst/>
          </a:prstGeom>
          <a:solidFill>
            <a:srgbClr val="EAF1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1984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858000" y="1938528"/>
            <a:ext cx="2377440" cy="384048"/>
          </a:xfrm>
          <a:prstGeom prst="rect">
            <a:avLst/>
          </a:prstGeom>
          <a:solidFill>
            <a:srgbClr val="EAF1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19842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 Node 2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7200" y="2322576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236829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控制平面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828800" y="2322576"/>
            <a:ext cx="1737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28800" y="23682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k8s-cp3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566160" y="2322576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66160" y="23682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572000" y="2322576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0" y="23682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8G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577840" y="2322576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77840" y="236829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40G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858000" y="2322576"/>
            <a:ext cx="2377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58000" y="23682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 Node 3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57200" y="2706624"/>
            <a:ext cx="1371600" cy="384048"/>
          </a:xfrm>
          <a:prstGeom prst="rect">
            <a:avLst/>
          </a:prstGeom>
          <a:solidFill>
            <a:srgbClr val="EAF1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27523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1828800" y="2706624"/>
            <a:ext cx="1737360" cy="384048"/>
          </a:xfrm>
          <a:prstGeom prst="rect">
            <a:avLst/>
          </a:prstGeom>
          <a:solidFill>
            <a:srgbClr val="EAF1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828800" y="275234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k8s-w1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3566160" y="2706624"/>
            <a:ext cx="1005840" cy="384048"/>
          </a:xfrm>
          <a:prstGeom prst="rect">
            <a:avLst/>
          </a:prstGeom>
          <a:solidFill>
            <a:srgbClr val="EAF1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566160" y="275234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572000" y="2706624"/>
            <a:ext cx="1005840" cy="384048"/>
          </a:xfrm>
          <a:prstGeom prst="rect">
            <a:avLst/>
          </a:prstGeom>
          <a:solidFill>
            <a:srgbClr val="EAF1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0" y="275234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16G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5577840" y="2706624"/>
            <a:ext cx="1280160" cy="384048"/>
          </a:xfrm>
          <a:prstGeom prst="rect">
            <a:avLst/>
          </a:prstGeom>
          <a:solidFill>
            <a:srgbClr val="EAF1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77840" y="27523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60G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858000" y="2706624"/>
            <a:ext cx="2377440" cy="384048"/>
          </a:xfrm>
          <a:prstGeom prst="rect">
            <a:avLst/>
          </a:prstGeom>
          <a:solidFill>
            <a:srgbClr val="EAF1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58000" y="27523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 Node 1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457200" y="3090672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" y="31363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1828800" y="3090672"/>
            <a:ext cx="1737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828800" y="31363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k8s-w2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3566160" y="3090672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566160" y="31363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4572000" y="3090672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0" y="31363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16G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5577840" y="3090672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577840" y="31363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60G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6858000" y="3090672"/>
            <a:ext cx="2377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858000" y="31363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 Node 2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457200" y="3474720"/>
            <a:ext cx="1371600" cy="384048"/>
          </a:xfrm>
          <a:prstGeom prst="rect">
            <a:avLst/>
          </a:prstGeom>
          <a:solidFill>
            <a:srgbClr val="EAF1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7200" y="35204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1828800" y="3474720"/>
            <a:ext cx="1737360" cy="384048"/>
          </a:xfrm>
          <a:prstGeom prst="rect">
            <a:avLst/>
          </a:prstGeom>
          <a:solidFill>
            <a:srgbClr val="EAF1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828800" y="35204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k8s-w3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3566160" y="3474720"/>
            <a:ext cx="1005840" cy="384048"/>
          </a:xfrm>
          <a:prstGeom prst="rect">
            <a:avLst/>
          </a:prstGeom>
          <a:solidFill>
            <a:srgbClr val="EAF1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566160" y="35204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4572000" y="3474720"/>
            <a:ext cx="1005840" cy="384048"/>
          </a:xfrm>
          <a:prstGeom prst="rect">
            <a:avLst/>
          </a:prstGeom>
          <a:solidFill>
            <a:srgbClr val="EAF1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572000" y="35204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16G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5577840" y="3474720"/>
            <a:ext cx="1280160" cy="384048"/>
          </a:xfrm>
          <a:prstGeom prst="rect">
            <a:avLst/>
          </a:prstGeom>
          <a:solidFill>
            <a:srgbClr val="EAF1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577840" y="35204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60G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6858000" y="3474720"/>
            <a:ext cx="2377440" cy="384048"/>
          </a:xfrm>
          <a:prstGeom prst="rect">
            <a:avLst/>
          </a:prstGeom>
          <a:solidFill>
            <a:srgbClr val="EAF1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858000" y="35204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 Node 3</a:t>
            </a:r>
            <a:endParaRPr lang="en-US" sz="1050" dirty="0"/>
          </a:p>
        </p:txBody>
      </p:sp>
      <p:sp>
        <p:nvSpPr>
          <p:cNvPr id="89" name="Text 87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控制平面分散到不同 PVE 節點，避免單點故障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 與網段規畫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61872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2435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網站與 IP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64208"/>
            <a:ext cx="36576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管理網段：192.168.10.0/24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cp: .11/.12/.13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w: .21/.22/.23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 VIP: 192.168.10.100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261872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2" name="Shape 10"/>
          <p:cNvSpPr/>
          <p:nvPr/>
        </p:nvSpPr>
        <p:spPr>
          <a:xfrm>
            <a:off x="490118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230368" y="12435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內部網段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664208"/>
            <a:ext cx="36576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網段：10.200.0.0/16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(與 CNI 相符)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網段：10.96.0.0/12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/kube-apiserver 設定)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/etc/hosts 或 DNS 需能解析所有節點主機名（見 Lab 0）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PVE 上 VM 最佳實踐（K8s 節點）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61872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2435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type = host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64208"/>
            <a:ext cx="3657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同質硬體下效能最高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節點通常不需 live migration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DB/AI/加密多 5–25%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261872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2" name="Shape 10"/>
          <p:cNvSpPr/>
          <p:nvPr/>
        </p:nvSpPr>
        <p:spPr>
          <a:xfrm>
            <a:off x="490118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230368" y="12435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磁碟 SCSI + Discard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664208"/>
            <a:ext cx="3657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virtio-scsi-pci controller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啟用 Discard（trim）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效能較佳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182112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17" name="Shape 15"/>
          <p:cNvSpPr/>
          <p:nvPr/>
        </p:nvSpPr>
        <p:spPr>
          <a:xfrm>
            <a:off x="694944" y="323697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24128" y="316382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網路 VirtIO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584448"/>
            <a:ext cx="3657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virtio-net 半虛擬化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qemu-guest-agent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 PVE 顯示 IP / 乾淨關機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01752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3182112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2" name="Shape 20"/>
          <p:cNvSpPr/>
          <p:nvPr/>
        </p:nvSpPr>
        <p:spPr>
          <a:xfrm>
            <a:off x="4901184" y="323697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230368" y="316382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資源規畫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3584448"/>
            <a:ext cx="3657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控制平面 4vCPU/8G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8vCPU/16G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少用需 GPU passthrough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網路規畫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61872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2435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管理網段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64208"/>
            <a:ext cx="36576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vmbr0 接 LAN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 管理 + SSH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叢集通訊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261872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12" name="Shape 10"/>
          <p:cNvSpPr/>
          <p:nvPr/>
        </p:nvSpPr>
        <p:spPr>
          <a:xfrm>
            <a:off x="490118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230368" y="12435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專用 bridge (vmbr1)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664208"/>
            <a:ext cx="36576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大流量叢集加第二實體 NIC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隔離 K8s / 儲存流量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避免搶佔管理頻寬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2918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防火牆雙層管控：PVE 層 + K8s NetworkPolicy 層</a:t>
            </a:r>
            <a:endParaRPr lang="en-US" sz="13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只用管理網段跑 Lab 亦可，但正式環境建議隔離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儲存規畫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61872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2435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節點 OS 磁碟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64208"/>
            <a:ext cx="36576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放在節點 local 儲存（LVM/ZFS）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開機系統獨立於共用儲存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261872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2" name="Shape 10"/>
          <p:cNvSpPr/>
          <p:nvPr/>
        </p:nvSpPr>
        <p:spPr>
          <a:xfrm>
            <a:off x="490118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230368" y="12435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PV 用磁碟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664208"/>
            <a:ext cx="36576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放在 Ceph (RBD)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 worker VM 具備 HA 與遷移能力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ceph-csi 於 Class 6 整合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2918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共用儲存是 VM live migration 與 PVE HA 的前提</a:t>
            </a:r>
            <a:endParaRPr lang="en-US" sz="13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環境可用 local 儲存，但 HA 受限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4：建立 6 台節點 VM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07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21615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匯入 Ubuntu 24.04 cloud image → 建範本 + cloud-init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10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171907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 clone 複製 6 台（3 cp + 3 worker）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240280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3134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222199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依架構表設定 vCPU/RAM/磁碟/IP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743200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8163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72491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 CPU type=host、SSH key、qemu-guest-agent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3192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32278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 /etc/hosts 與時區、時間同步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詳見 lab-04-architecture-vm.md 與 Class 4 content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4 · 完成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下一步：kubeadm 安裝高可用 K8s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台節點就緒，開始安裝核心系統元件。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架構落地：6 台 VM 具備正確資源、網路、儲存與 qemu-guest-agent。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4 - PVE 上 K8s 架構規劃與 VM 建置</dc:title>
  <dc:subject>PptxGenJS Presentation</dc:subject>
  <dc:creator>AI_assist</dc:creator>
  <cp:lastModifiedBy>AI_assist</cp:lastModifiedBy>
  <cp:revision>1</cp:revision>
  <dcterms:created xsi:type="dcterms:W3CDTF">2026-08-31T04:36:08Z</dcterms:created>
  <dcterms:modified xsi:type="dcterms:W3CDTF">2026-08-31T04:36:08Z</dcterms:modified>
</cp:coreProperties>
</file>