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K8s core: motivation, isolation spectrum, control plane, reconcile loop, objects, declarative model, OCP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up, hand-off to Class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× Kubernetes 工程師訓練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2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490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核心架構與運作原理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 15 min（含 OCP 比較）｜ 理論 ｜ 容器編排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為什麼需要 Kubernetes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容器解決了什麼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把單一應用打包與執行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（containerd / Docker 皆可）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可攜、隔離、輕量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容器編排解決什麼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數百個容器的：調度、自癒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服務發現、負載平衡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滾動更新、橫向擴展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29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= 業界標準容器編排平台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宣告式（Declarative）· 自我修復（Self-Healing）· 可擴展（Scalable）· 可攜（Portable）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的哲學：描述「想要的狀態」，系統自動收斂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容器、虛擬機、裸機（隔離光譜）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05740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9601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205740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9601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205740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9601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虛擬機 (KVM)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29400" y="960120"/>
            <a:ext cx="205740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9601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 (containerd)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2057400" cy="457200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4173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隔離單位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14600" y="1417320"/>
            <a:ext cx="20574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4173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整台實體機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417320"/>
            <a:ext cx="20574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14173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OS（Guest）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9400" y="1417320"/>
            <a:ext cx="20574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14173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行程層 (namespace+cgroup)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1874520"/>
            <a:ext cx="2057400" cy="457200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18745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共用宿主核心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1874520"/>
            <a:ext cx="2057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18745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874520"/>
            <a:ext cx="2057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18745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1874520"/>
            <a:ext cx="2057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18745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331720"/>
            <a:ext cx="2057400" cy="457200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23317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/ 密度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14600" y="2331720"/>
            <a:ext cx="20574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23317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分鐘級・1/機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2331720"/>
            <a:ext cx="20574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6008" y="23317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分鐘級・數十/機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9400" y="2331720"/>
            <a:ext cx="20574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23317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秒級・數百~/機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788920"/>
            <a:ext cx="2057400" cy="457200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27889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角色定位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14600" y="2788920"/>
            <a:ext cx="2057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78608" y="27889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專用負載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2788920"/>
            <a:ext cx="2057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36008" y="27889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節點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9400" y="2788920"/>
            <a:ext cx="2057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93408" y="27889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微服務打包部署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5661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AF1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6301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本課程定位：VM 跑 K8s 節點（重隔離）＋ 容器跑應用（高密度）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3F6FC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2702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心智模型：裸機=整間公寓、VM=大樓單元、容器=單元房間；K8s 管「房間」，VM 只是載體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兩層組合是 PVE 環境下的標準形態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總體架構：控制平面 + 工作節點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EAF1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控制平面 (Control Plane)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27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5727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唯一入口 / 認證授權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2585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叢集狀態儲存 (quorum)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kube-scheduler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9443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 Pod 選節點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84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kube-controller-manager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6301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控制器迴圈收斂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23360" cy="3291840"/>
          </a:xfrm>
          <a:prstGeom prst="rect">
            <a:avLst/>
          </a:prstGeom>
          <a:solidFill>
            <a:srgbClr val="F3F6FC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工作節點 (Worker Node) × 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1463040"/>
            <a:ext cx="3703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管理本節點 Pod/容器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240280"/>
            <a:ext cx="3703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網路規則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017520"/>
            <a:ext cx="3703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容器執行期 (CRI)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0" y="2651760"/>
            <a:ext cx="274320" cy="0"/>
          </a:xfrm>
          <a:prstGeom prst="line">
            <a:avLst/>
          </a:prstGeom>
          <a:noFill/>
          <a:ln w="38100">
            <a:solidFill>
              <a:srgbClr val="FF7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27432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每 10s 回報狀態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/ API 用戶端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97680" y="4572000"/>
            <a:ext cx="36576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apiserver 是唯一入口；etcd 保存期望狀態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控制平面元件職責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API 請求唯一入口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/ 授權 / 准入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狀態透過 etcd 保存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分散式 KV 儲存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存整個叢集狀態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需奇數副本維持 quorum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90779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296265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28895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kube-scheduler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31012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為新 Pod 選擇節點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考量資源/標籤/親和性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不執行 Pod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90779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901184" y="296265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28895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kube-controller-manager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31012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執行控制器迴圈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(ReplicaSet/Node/Deployment...)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把現況收斂到期望狀態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高可用叢集會部署 ≥3 個控制平面（Class 3/5）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宣告式與控制回路（Reconcile Loop）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命令式（傳統）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「升这台、關那台、開 port」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每一步都要人下令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人離開就停擺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宣告式（K8s）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「我要 3 個 nginx、跑這」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偏離（掛/掉/被改）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都由 K8s 自動修正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EAF1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5292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控制回路：每個 controller 不斷迴圈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326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461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讀期望狀態 (etcd)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24612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06040" y="324612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326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2461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讀實際狀態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324612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324612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326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2461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差異→修正 Pod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324612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37960" y="324612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326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2461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3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245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生活類比：冷氣定溫 24°——你只設目標，自己感知差距再收斂；controller 就是那個溫控迴路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排障思路：先問「目標是啥？實際差在哪？」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etcd 為何要 3 / 5 台（quorum）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是「叢集唯一事實來源」，寫入需過半數節點認可 → 要能「過半數」就得「有過半數存活」：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371600"/>
            <a:ext cx="146304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節點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371600"/>
            <a:ext cx="128016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容許掉線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0240" y="1828800"/>
            <a:ext cx="146304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1828800"/>
            <a:ext cx="128016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828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掉了全叢集不可寫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22860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2286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37360" y="228600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286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剩 2 仍過半（2/3）→ 繼續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2743200"/>
            <a:ext cx="146304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37360" y="2743200"/>
            <a:ext cx="128016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743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剩 3 仍過半（3/5）→ 繼續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0240" y="3200400"/>
            <a:ext cx="1463040" cy="457200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37360" y="3200400"/>
            <a:ext cx="1280160" cy="457200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200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多一台沒多容錯，白費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AF1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913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心智模型：開會過半數才作數——4 人掉 2 就作不了決定，跟 3 人掉 1 一樣但更貴 → HA etcd 一律奇數（3 或 5）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磁碟寫入延遲直接影響 API 回應，建議 SSD + fast-fsync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工作節點元件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節點上的主要代理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 apiserver 註冊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負責啟動/停止 Pod 容器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 Service 網路規則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(iptables / IPVS)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把流量導向後端 Pod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90779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296265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28895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 (CRI)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31012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真正執行容器的元件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維護、輕量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自 1.24 起預設 runtime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90779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4901184" y="296265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28895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介面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31012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Interface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 runtime 與 K8s 的溝通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可替換（containerd/cri-o）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 已取代 Docker 作為 K8s 的預設 runtime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 網路心智模型（兩層 IP）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097280"/>
            <a:ext cx="2377440" cy="1371600"/>
          </a:xfrm>
          <a:prstGeom prst="rect">
            <a:avLst/>
          </a:prstGeom>
          <a:solidFill>
            <a:srgbClr val="EAF1FF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70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6916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097280"/>
            <a:ext cx="2377440" cy="1371600"/>
          </a:xfrm>
          <a:prstGeom prst="rect">
            <a:avLst/>
          </a:prstGeom>
          <a:solidFill>
            <a:srgbClr val="EAF1FF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170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6916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406908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377440" cy="1371600"/>
          </a:xfrm>
          <a:prstGeom prst="rect">
            <a:avLst/>
          </a:prstGeom>
          <a:solidFill>
            <a:srgbClr val="EAF1FF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70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6916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IP（物理/VM IP，PVE/bridge 管）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IP（跨節點可路由，CNI 管）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Pod 有自己的 IP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3154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跨節點可路由，跟「容器用 host 網路」完全不同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584448"/>
            <a:ext cx="109728" cy="109728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538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不管 Pod 間怎麼通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353872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只告知「Pod CIDR」與節點間路由，交由 CNI（Calico/Flannel/Cilium）實現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68496"/>
            <a:ext cx="109728" cy="109728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9227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IP 是短暫的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392277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重排/調度就變；Service 提供穩定入口，應用不必追蹤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PVE/bridge 管節點間；CNI 管 Pod 間——兩層各自獨立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核心物件（API 資源）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最小部署單位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共享網路/儲存的容器群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通常由控制器管理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48386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664208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宣告副本數/鏡像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管理滾動更新與滾回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ReplicaSet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664208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穩定虛擬 IP + DNS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服務發現/負載平衡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ClusterIP/NodePort/LB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18211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" y="32369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1638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584448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明文設定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與鏡像分離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可動態變更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18211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7" name="Shape 25"/>
          <p:cNvSpPr/>
          <p:nvPr/>
        </p:nvSpPr>
        <p:spPr>
          <a:xfrm>
            <a:off x="3483864" y="32369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813048" y="31638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29000" y="3584448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 (base64)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憑證/密碼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避免寫入鏡像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18211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32" name="Shape 30"/>
          <p:cNvSpPr/>
          <p:nvPr/>
        </p:nvSpPr>
        <p:spPr>
          <a:xfrm>
            <a:off x="6272784" y="32369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601968" y="31638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3584448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/ Ingress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/ Job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PV/PVC/StorageClass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做邏輯隔離；Ingress 做七層路由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Service：為什麼必要與工作原理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問題：Pod 短暫（重排/縮放/升級），Pod IP 時常變——客戶端不可能追蹤。解法：Service 提供永遠不變的「門面」（VIP + DNS）。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5087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AF1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(VIP + DNS)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2148840"/>
            <a:ext cx="548640" cy="457200"/>
          </a:xfrm>
          <a:prstGeom prst="line">
            <a:avLst/>
          </a:prstGeom>
          <a:noFill/>
          <a:ln w="19050">
            <a:solidFill>
              <a:srgbClr val="FF7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26060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2148840"/>
            <a:ext cx="548640" cy="457200"/>
          </a:xfrm>
          <a:prstGeom prst="line">
            <a:avLst/>
          </a:prstGeom>
          <a:noFill/>
          <a:ln w="19050">
            <a:solidFill>
              <a:srgbClr val="FF73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26060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148840"/>
            <a:ext cx="548640" cy="457200"/>
          </a:xfrm>
          <a:prstGeom prst="line">
            <a:avLst/>
          </a:prstGeom>
          <a:noFill/>
          <a:ln w="19050">
            <a:solidFill>
              <a:srgbClr val="FF73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6060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selector 自動挑出符合的 Pod（新 Pod 自動進、掛掉自動移出）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68503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" y="373989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" y="36667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怎麼轉（kube-proxy）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087368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iptables：簡單、小規模夠用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IPVS：內核 L4 負平衡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規模大/低延遲，生產推薦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5204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68503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5" name="Shape 23"/>
          <p:cNvSpPr/>
          <p:nvPr/>
        </p:nvSpPr>
        <p:spPr>
          <a:xfrm>
            <a:off x="4901184" y="373989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36667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服務發現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4087368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CoreDNS：my-svc →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my-svc.default.svc.cluster.local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Service VIP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256032"/>
          </a:xfrm>
          <a:prstGeom prst="roundRect">
            <a:avLst/>
          </a:prstGeom>
          <a:solidFill>
            <a:srgbClr val="F3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心智模型：Service=公司總機電話，號碼不變、後面分機會換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排程心智模型（Affinity/Taint/Spread）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NodeSelector / Affinity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「只放 3 樓的辦公室」——把 Pod 綁到特定節點標籤（GPU 節點、同可用區）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5059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" y="250545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2432304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/ Toleration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852928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「這棟樓有毒，非抗毒者勿進」——把 Pod 趕離特定節點（如 GPU 節點只給特定負載）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3931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36941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3621024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Spread（podAntiAffinity）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041648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「同一組同事別都坐一張桌」——副本分散到不同節點/機櫃，防單點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228600"/>
          </a:xfrm>
          <a:prstGeom prst="roundRect">
            <a:avLst/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Affinity=想要放這；Taint=別讓我放這；Spread=別都擠一起（Class 3 實務應用）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宣告式管理與 API 原理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EAF1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08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320040" cy="0"/>
          </a:xfrm>
          <a:prstGeom prst="line">
            <a:avLst/>
          </a:prstGeom>
          <a:noFill/>
          <a:ln w="31750">
            <a:solidFill>
              <a:srgbClr val="FF7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3716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EAF1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59152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(驗證/授權/准入)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94760" y="1965960"/>
            <a:ext cx="320040" cy="0"/>
          </a:xfrm>
          <a:prstGeom prst="line">
            <a:avLst/>
          </a:prstGeom>
          <a:noFill/>
          <a:ln w="31750">
            <a:solidFill>
              <a:srgbClr val="FF73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3716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7300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87952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(期望狀態)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23560" y="1965960"/>
            <a:ext cx="320040" cy="0"/>
          </a:xfrm>
          <a:prstGeom prst="line">
            <a:avLst/>
          </a:prstGeom>
          <a:noFill/>
          <a:ln w="31750">
            <a:solidFill>
              <a:srgbClr val="FF7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3716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EAF1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16752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(收斂差異)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52360" y="1965960"/>
            <a:ext cx="320040" cy="0"/>
          </a:xfrm>
          <a:prstGeom prst="line">
            <a:avLst/>
          </a:prstGeom>
          <a:noFill/>
          <a:ln w="31750">
            <a:solidFill>
              <a:srgbClr val="FF73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3716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EAF1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scheduler→kubelet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45552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→containerd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29260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apiserver 是唯一寫入入口；etcd 是單一事實來源（quorum）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controller 都是 reconcile loop 的一個實例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只是客戶端（REST over HTTPS）；任何語言/工具都能直打 apiserver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把第 6 頁「宣告式」觀念放到實際資料流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重點複習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控制平面負責「決定」叢集狀態；工作節點負責「執行」Pod</a:t>
            </a:r>
            <a:endParaRPr lang="en-US" sz="1500" dirty="0"/>
          </a:p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宣告式：你描述目標，controller 靠 reconcile loop 收斂</a:t>
            </a:r>
            <a:endParaRPr lang="en-US" sz="1500" dirty="0"/>
          </a:p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保存全部狀態，奇數節點維持 quorum</a:t>
            </a:r>
            <a:endParaRPr lang="en-US" sz="1500" dirty="0"/>
          </a:p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Service=穩定門面、Pod 網路=CNI、排程=Affinity/Taint/Spread</a:t>
            </a:r>
            <a:endParaRPr lang="en-US" sz="1500" dirty="0"/>
          </a:p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 是現行標準 runtime</a:t>
            </a:r>
            <a:endParaRPr lang="en-US" sz="1500" dirty="0"/>
          </a:p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小測驗：取得 Quizlet 課堂小測驗（04-exercises/QUIZZES.md）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本堂原理是後續安裝/運維的基礎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比較：Kubernetes vs OpenShift (OCP)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475488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0584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743200" cy="475488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00584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Kubernetes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2743200" cy="475488"/>
          </a:xfrm>
          <a:prstGeom prst="rect">
            <a:avLst/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16752" y="100584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OpenShift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481328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8132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481328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48132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開源容器編排核心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481328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148132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 K8s 發行版＋支援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956816"/>
            <a:ext cx="2743200" cy="475488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195681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956816"/>
            <a:ext cx="2743200" cy="475488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95681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/ k3s（自行組裝）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956816"/>
            <a:ext cx="2743200" cy="475488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195681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openshift-install（一鍵/自動 HA）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432304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43230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432304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3552" y="243230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 / CRI-O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432304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243230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CRI-O（Red Hat 主導）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907792"/>
            <a:ext cx="2743200" cy="475488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90779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節點 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907792"/>
            <a:ext cx="2743200" cy="475488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290779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 Linux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2907792"/>
            <a:ext cx="2743200" cy="475488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16752" y="290779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RHCOS（唯讀自動更新）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383280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38328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3383280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73552" y="338328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自裝 CNI（Calico…）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3383280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16752" y="338328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OVN-Kubernetes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858768"/>
            <a:ext cx="2743200" cy="475488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85876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認證/路由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0" y="3858768"/>
            <a:ext cx="2743200" cy="475488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385876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自組 OIDC / Ingress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3858768"/>
            <a:ext cx="2743200" cy="475488"/>
          </a:xfrm>
          <a:prstGeom prst="rect">
            <a:avLst/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16752" y="385876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OAuth＋Router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334256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433425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00400" y="4334256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433425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免費開源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0" y="4334256"/>
            <a:ext cx="2743200" cy="475488"/>
          </a:xfrm>
          <a:prstGeom prst="rect">
            <a:avLst/>
          </a:prstGeom>
          <a:solidFill>
            <a:srgbClr val="EAF1FF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16752" y="433425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付費訂閱（有 SLA）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同一套 K8s API；OCP 等於「K8s 核心 + 企業層功能 + Red Hat 支援」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 比較：優點 vs 缺點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2057400"/>
          </a:xfrm>
          <a:prstGeom prst="roundRect">
            <a:avLst>
              <a:gd name="adj" fmla="val 355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1615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2710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1978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Kubernetes（Vanilla）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18488"/>
            <a:ext cx="36576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Pros：免費開源 / 輕量客製 / 版本自主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Cons：CNI/監控/Ingress/RBAC 全要自組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無原廠支援、維運與升級成本高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2057400"/>
          </a:xfrm>
          <a:prstGeom prst="roundRect">
            <a:avLst>
              <a:gd name="adj" fmla="val 355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1615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2710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1978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OpenShift（OCP）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6576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Pros：企業一體化 / 支援與 SLA / 安全開箱即用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Cons：付費訂閱 / 較重耗資源 / 客製受限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綁定 Red Hat 節奏，免費版 OKD 無支援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AF1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4381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訓練/研究/Lab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34381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Kubernetes（零成本、看透原理）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A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867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企業上線/需合規 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20440" y="39867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OpenShift（付費買支援與一體化）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AF1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5354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折衷 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45354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先打穩 K8s 原理，轉 OCP 僅換外皮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底層都是 K8s API；本課程以 Vanilla (kubeadm) 講透原理，OCP 只是企業層調味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完成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下一步：網路、儲存、高可用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K8s 對外暴露、持久儲存與 HA 的原理。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原理通了，接下來實作前先把基礎元件（CNI/儲存/HA）搞懂。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2 - Kubernetes 核心架構與運作原理</dc:title>
  <dc:subject>PptxGenJS Presentation</dc:subject>
  <dc:creator>AI_assist</dc:creator>
  <cp:lastModifiedBy>AI_assist</cp:lastModifiedBy>
  <cp:revision>1</cp:revision>
  <dcterms:created xsi:type="dcterms:W3CDTF">2026-08-31T07:26:14Z</dcterms:created>
  <dcterms:modified xsi:type="dcterms:W3CDTF">2026-08-31T07:26:14Z</dcterms:modified>
</cp:coreProperties>
</file>