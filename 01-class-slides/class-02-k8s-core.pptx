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K8s core: motivation, control plane, worker node, objects, declarative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up, hand-off to Class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PVE × Kubernetes 工程師訓練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2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548640" y="3749040"/>
            <a:ext cx="5669280" cy="548640"/>
          </a:xfrm>
          <a:prstGeom prst="roundRect">
            <a:avLst>
              <a:gd name="adj" fmla="val 16667"/>
            </a:avLst>
          </a:prstGeom>
          <a:solidFill>
            <a:srgbClr val="326CE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74904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核心架構與運作原理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hr 30 min ｜ 理論 ｜ 容器編排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為什麼需要 Kubernetes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容器解決了什麼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3657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把單一應用打包與執行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（containerd / Docker 皆可）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可攜、隔離、輕量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2" name="Shape 10"/>
          <p:cNvSpPr/>
          <p:nvPr/>
        </p:nvSpPr>
        <p:spPr>
          <a:xfrm>
            <a:off x="49011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容器編排解決什麼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64208"/>
            <a:ext cx="3657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數百個容器的：調度、自癒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服務發現、負載平衡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滾動更新、橫向擴展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EAF1FF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429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Kubernetes = 業界標準容器編排平台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3931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宣告式（Declarative）· 自我修復（Self-Healing）· 可擴展（Scalable）· 可攜（Portable）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的哲學：描述「想要的狀態」，系統自動收斂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總體架構：控制平面 + 工作節點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291840"/>
          </a:xfrm>
          <a:prstGeom prst="rect">
            <a:avLst/>
          </a:prstGeom>
          <a:solidFill>
            <a:srgbClr val="EAF1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05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控制平面 (Control Plane)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146304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270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kube-apiserver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5727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唯一入口 / 認證授權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212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60320" y="22585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叢集狀態儲存 (quorum)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" y="283464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8986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kube-scheduler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29443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 Pod 選節點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5844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kube-controller-manager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560320" y="36301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控制器迴圈收斂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1005840"/>
            <a:ext cx="4023360" cy="3291840"/>
          </a:xfrm>
          <a:prstGeom prst="rect">
            <a:avLst/>
          </a:prstGeom>
          <a:solidFill>
            <a:srgbClr val="F3F6FC"/>
          </a:solidFill>
          <a:ln w="12700">
            <a:solidFill>
              <a:srgbClr val="FF73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工作節點 (Worker Node) × 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846320" y="1463040"/>
            <a:ext cx="3703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FF73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kubelet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1600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管理本節點 Pod/容器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46320" y="2240280"/>
            <a:ext cx="3703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FF73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331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kube-proxy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2377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網路規則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46320" y="3017520"/>
            <a:ext cx="3703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FF73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3108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92240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容器執行期 (CRI)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389120" y="2651760"/>
            <a:ext cx="274320" cy="0"/>
          </a:xfrm>
          <a:prstGeom prst="line">
            <a:avLst/>
          </a:prstGeom>
          <a:noFill/>
          <a:ln w="38100">
            <a:solidFill>
              <a:srgbClr val="FF73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60520" y="274320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kubelet 每 10s 回報狀態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/ API 用戶端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297680" y="4572000"/>
            <a:ext cx="365760" cy="0"/>
          </a:xfrm>
          <a:prstGeom prst="line">
            <a:avLst/>
          </a:prstGeom>
          <a:noFill/>
          <a:ln w="25400">
            <a:solidFill>
              <a:srgbClr val="326C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apiserver 是唯一入口；etcd 保存期望狀態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控制平面元件職責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kube-apiserver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API 請求唯一入口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/ 授權 / 准入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狀態透過 etcd 保存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9011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6420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 KV 儲存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存整個叢集狀態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需奇數副本維持 quorum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90779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94944" y="296265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24128" y="288950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kube-scheduler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31012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為新 Pod 選擇節點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考量資源/標籤/親和性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不執行 Pod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90779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1184" y="296265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230368" y="288950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kube-controller-manager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31012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執行控制器迴圈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(ReplicaSet/Node/Deployment...)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把現況收斂到期望狀態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高可用叢集會部署 ≥3 個控制平面（Class 3/5）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工作節點元件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kubelet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節點上的主要代理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 apiserver 註冊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負責啟動/停止 Pod 容器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2" name="Shape 10"/>
          <p:cNvSpPr/>
          <p:nvPr/>
        </p:nvSpPr>
        <p:spPr>
          <a:xfrm>
            <a:off x="49011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kube-proxy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6420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Service 網路規則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(iptables / IPVS)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把流量導向後端 Pod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90779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94944" y="296265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24128" y="288950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containerd (CRI)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31012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真正執行容器的元件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CNCF 維護、輕量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自 1.24 起預設 runtime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90779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1184" y="296265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230368" y="288950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 介面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31012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Runtime Interface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標準化 runtime 與 K8s 的溝通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可替換（containerd/cri-o）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containerd 已取代 Docker 作為 K8s 的預設 runtime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核心物件（API 資源）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2286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最小部署單位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共享網路/儲存的容器群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通常由控制器管理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2" name="Shape 10"/>
          <p:cNvSpPr/>
          <p:nvPr/>
        </p:nvSpPr>
        <p:spPr>
          <a:xfrm>
            <a:off x="348386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81304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1664208"/>
            <a:ext cx="2286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宣告副本數/鏡像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管理滾動更新與滾回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ReplicaSet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0196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1664208"/>
            <a:ext cx="2286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穩定虛擬 IP + DNS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服務發現/負載平衡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ClusterIP/NodePort/LB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18211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22" name="Shape 20"/>
          <p:cNvSpPr/>
          <p:nvPr/>
        </p:nvSpPr>
        <p:spPr>
          <a:xfrm>
            <a:off x="694944" y="32369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24128" y="316382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ConfigMap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3584448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明文設定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與鏡像分離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可動態變更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46120" y="30175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29000" y="318211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27" name="Shape 25"/>
          <p:cNvSpPr/>
          <p:nvPr/>
        </p:nvSpPr>
        <p:spPr>
          <a:xfrm>
            <a:off x="3483864" y="32369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813048" y="316382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429000" y="3584448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機密 (base64)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憑證/密碼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避免寫入鏡像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035040" y="30175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17920" y="318211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32369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6601968" y="316382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17920" y="3584448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 / Ingress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StatefulSet / Job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PV/PVC/StorageClass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NetworkPolicy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 做邏輯隔離；Ingress 做七層路由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宣告式管理與 API 原理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EAF1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5087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apply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65960" y="1965960"/>
            <a:ext cx="320040" cy="0"/>
          </a:xfrm>
          <a:prstGeom prst="line">
            <a:avLst/>
          </a:prstGeom>
          <a:noFill/>
          <a:ln w="31750">
            <a:solidFill>
              <a:srgbClr val="FF73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13716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EAF1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59152" y="1508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kube-apiserver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59152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(驗證/授權/准入)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794760" y="1965960"/>
            <a:ext cx="320040" cy="0"/>
          </a:xfrm>
          <a:prstGeom prst="line">
            <a:avLst/>
          </a:prstGeom>
          <a:noFill/>
          <a:ln w="31750">
            <a:solidFill>
              <a:srgbClr val="FF73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0" y="13716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FF7300"/>
          </a:solidFill>
          <a:ln w="12700">
            <a:solidFill>
              <a:srgbClr val="FF73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87952" y="1508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87952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(期望狀態)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623560" y="1965960"/>
            <a:ext cx="320040" cy="0"/>
          </a:xfrm>
          <a:prstGeom prst="line">
            <a:avLst/>
          </a:prstGeom>
          <a:noFill/>
          <a:ln w="31750">
            <a:solidFill>
              <a:srgbClr val="FF73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0" y="13716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EAF1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16752" y="1508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16752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(收斂差異)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52360" y="1965960"/>
            <a:ext cx="320040" cy="0"/>
          </a:xfrm>
          <a:prstGeom prst="line">
            <a:avLst/>
          </a:prstGeom>
          <a:noFill/>
          <a:ln w="31750">
            <a:solidFill>
              <a:srgbClr val="FF73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0" y="13716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EAF1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45552" y="1508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scheduler→kubelet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845552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→containerd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48640" y="292608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是「宣告式」：你描述想要的狀態，controller 收斂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只是 HTTPS 客戶端，透過 REST 呼叫 apiserver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所有狀態最終寫入 etcd；任何語言/工具都能操作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takeaway：宣告式 vs 命令式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重點複習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8046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控制平面（apiserver/etcd/scheduler/controller）負責「決定」叢集狀態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工作節點（kubelet/kube-proxy/containerd）負責「執行」Pod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是最小單位、Deployment 管副本、Service 提供穩定存取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所有狀態存在 etcd；apiserver 是唯一入口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containerd 是現行標準 runtime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小測驗：取得 Quizlet 課堂小測驗（04-exercises/QUIZZES.md）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本堂原理是後續安裝/運維的基礎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比較：Kubernetes vs OpenShift (OCP)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743200" cy="475488"/>
          </a:xfrm>
          <a:prstGeom prst="rect">
            <a:avLst/>
          </a:prstGeom>
          <a:solidFill>
            <a:srgbClr val="0E1B33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005840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743200" cy="475488"/>
          </a:xfrm>
          <a:prstGeom prst="rect">
            <a:avLst/>
          </a:prstGeom>
          <a:solidFill>
            <a:srgbClr val="0E1B33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73552" y="1005840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Kubernetes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1005840"/>
            <a:ext cx="2743200" cy="475488"/>
          </a:xfrm>
          <a:prstGeom prst="rect">
            <a:avLst/>
          </a:prstGeom>
          <a:solidFill>
            <a:srgbClr val="0E1B33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16752" y="1005840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Hat OpenShift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481328"/>
            <a:ext cx="2743200" cy="475488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481328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481328"/>
            <a:ext cx="2743200" cy="475488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73552" y="1481328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開源容器編排核心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481328"/>
            <a:ext cx="2743200" cy="475488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6752" y="1481328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 K8s 發行版＋支援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1956816"/>
            <a:ext cx="2743200" cy="475488"/>
          </a:xfrm>
          <a:prstGeom prst="rect">
            <a:avLst/>
          </a:prstGeom>
          <a:solidFill>
            <a:srgbClr val="F3F6FC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1956816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956816"/>
            <a:ext cx="2743200" cy="475488"/>
          </a:xfrm>
          <a:prstGeom prst="rect">
            <a:avLst/>
          </a:prstGeom>
          <a:solidFill>
            <a:srgbClr val="F3F6FC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73552" y="1956816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kubeadm / k3s（自行組裝）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956816"/>
            <a:ext cx="2743200" cy="475488"/>
          </a:xfrm>
          <a:prstGeom prst="rect">
            <a:avLst/>
          </a:prstGeom>
          <a:solidFill>
            <a:srgbClr val="F3F6FC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16752" y="1956816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openshift-install（一鍵/自動 HA）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432304"/>
            <a:ext cx="2743200" cy="475488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2432304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432304"/>
            <a:ext cx="2743200" cy="475488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73552" y="2432304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containerd / CRI-O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2432304"/>
            <a:ext cx="2743200" cy="475488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16752" y="2432304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CRI-O（Red Hat 主導）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907792"/>
            <a:ext cx="2743200" cy="475488"/>
          </a:xfrm>
          <a:prstGeom prst="rect">
            <a:avLst/>
          </a:prstGeom>
          <a:solidFill>
            <a:srgbClr val="F3F6FC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0352" y="2907792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節點 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00400" y="2907792"/>
            <a:ext cx="2743200" cy="475488"/>
          </a:xfrm>
          <a:prstGeom prst="rect">
            <a:avLst/>
          </a:prstGeom>
          <a:solidFill>
            <a:srgbClr val="F3F6FC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3552" y="2907792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 Linux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2907792"/>
            <a:ext cx="2743200" cy="475488"/>
          </a:xfrm>
          <a:prstGeom prst="rect">
            <a:avLst/>
          </a:prstGeom>
          <a:solidFill>
            <a:srgbClr val="F3F6FC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16752" y="2907792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RHCOS（唯讀自動更新）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383280"/>
            <a:ext cx="2743200" cy="475488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" y="3383280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0" y="3383280"/>
            <a:ext cx="2743200" cy="475488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73552" y="3383280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自裝 CNI（Calico…）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0" y="3383280"/>
            <a:ext cx="2743200" cy="475488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16752" y="3383280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內建 OVN-Kubernetes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3858768"/>
            <a:ext cx="2743200" cy="475488"/>
          </a:xfrm>
          <a:prstGeom prst="rect">
            <a:avLst/>
          </a:prstGeom>
          <a:solidFill>
            <a:srgbClr val="F3F6FC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0352" y="3858768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認證/路由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200400" y="3858768"/>
            <a:ext cx="2743200" cy="475488"/>
          </a:xfrm>
          <a:prstGeom prst="rect">
            <a:avLst/>
          </a:prstGeom>
          <a:solidFill>
            <a:srgbClr val="F3F6FC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73552" y="3858768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自組 OIDC / Ingress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0" y="3858768"/>
            <a:ext cx="2743200" cy="475488"/>
          </a:xfrm>
          <a:prstGeom prst="rect">
            <a:avLst/>
          </a:prstGeom>
          <a:solidFill>
            <a:srgbClr val="F3F6FC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16752" y="3858768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內建 OAuth＋Router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57200" y="4334256"/>
            <a:ext cx="2743200" cy="475488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0352" y="4334256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200400" y="4334256"/>
            <a:ext cx="2743200" cy="475488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73552" y="4334256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免費開源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943600" y="4334256"/>
            <a:ext cx="2743200" cy="475488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16752" y="4334256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付費訂閱（有 SLA）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同一套 K8s API；OCP 等於「K8s 核心 + 企業層功能 + Red Hat 支援」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OCP 比較：優點 vs 缺點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2057400"/>
          </a:xfrm>
          <a:prstGeom prst="roundRect">
            <a:avLst>
              <a:gd name="adj" fmla="val 3556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1615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2710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19786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Kubernetes（Vanilla）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18488"/>
            <a:ext cx="365760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Pros：免費開源 / 輕量客製 / 版本自主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Cons：CNI/監控/Ingress/RBAC 全要自組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無原廠支援、維運與升級成本高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023360" cy="2057400"/>
          </a:xfrm>
          <a:prstGeom prst="roundRect">
            <a:avLst>
              <a:gd name="adj" fmla="val 3556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1615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2" name="Shape 10"/>
          <p:cNvSpPr/>
          <p:nvPr/>
        </p:nvSpPr>
        <p:spPr>
          <a:xfrm>
            <a:off x="4901184" y="12710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119786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OpenShift（OCP）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18488"/>
            <a:ext cx="365760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Pros：企業一體化 / 支援與 SLA / 安全開箱即用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Cons：付費訂閱 / 較重耗資源 / 客製受限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綁定 Red Hat 節奏，免費版 OKD 無支援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383280"/>
            <a:ext cx="8229600" cy="475488"/>
          </a:xfrm>
          <a:prstGeom prst="roundRect">
            <a:avLst>
              <a:gd name="adj" fmla="val 15385"/>
            </a:avLst>
          </a:prstGeom>
          <a:solidFill>
            <a:srgbClr val="EAF1FF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43814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訓練/研究/Lab →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20440" y="34381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Kubernetes（零成本、看透原理）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475488"/>
          </a:xfrm>
          <a:prstGeom prst="roundRect">
            <a:avLst>
              <a:gd name="adj" fmla="val 15385"/>
            </a:avLst>
          </a:prstGeom>
          <a:solidFill>
            <a:srgbClr val="EAF1FF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9867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企業上線/需合規 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20440" y="39867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OpenShift（付費買支援與一體化）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480560"/>
            <a:ext cx="8229600" cy="475488"/>
          </a:xfrm>
          <a:prstGeom prst="roundRect">
            <a:avLst>
              <a:gd name="adj" fmla="val 15385"/>
            </a:avLst>
          </a:prstGeom>
          <a:solidFill>
            <a:srgbClr val="EAF1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45354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折衷 →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20440" y="453542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先打穩 K8s 原理，轉 OCP 僅換外皮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底層都是 K8s API；本課程以 Vanilla (kubeadm) 講透原理，OCP 只是企業層調味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2 · 完成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下一步：網路、儲存、高可用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K8s 對外暴露、持久儲存與 HA 的原理。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原理通了，接下來實作前先把基礎元件（CNI/儲存/HA）搞懂。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 2 - Kubernetes 核心架構與運作原理</dc:title>
  <dc:subject>PptxGenJS Presentation</dc:subject>
  <dc:creator>AI_assist</dc:creator>
  <cp:lastModifiedBy>AI_assist</cp:lastModifiedBy>
  <cp:revision>1</cp:revision>
  <dcterms:created xsi:type="dcterms:W3CDTF">2026-08-31T05:04:09Z</dcterms:created>
  <dcterms:modified xsi:type="dcterms:W3CDTF">2026-08-31T05:04:09Z</dcterms:modified>
</cp:coreProperties>
</file>