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PVE overview. Latest 9.x facts, virtualization tech, storage, network, HA/backup.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Wrap up, hand-off to Class 2.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× Kubernetes 工程師訓練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Class 1</a:t>
            </a:r>
            <a:endParaRPr lang="en-US" sz="6000" dirty="0"/>
          </a:p>
        </p:txBody>
      </p:sp>
      <p:sp>
        <p:nvSpPr>
          <p:cNvPr id="4" name="Shape 2"/>
          <p:cNvSpPr/>
          <p:nvPr/>
        </p:nvSpPr>
        <p:spPr>
          <a:xfrm>
            <a:off x="548640" y="3749040"/>
            <a:ext cx="4937760" cy="548640"/>
          </a:xfrm>
          <a:prstGeom prst="roundRect">
            <a:avLst>
              <a:gd name="adj" fmla="val 16667"/>
            </a:avLst>
          </a:prstGeom>
          <a:solidFill>
            <a:srgbClr val="FF7300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37490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Proxmox VE 虛擬化平台概論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548640" y="443484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hr ｜ 觀念 + 實作 ｜ PVE 9.x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Proxmox VE 是什麼？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Type-1 虛擬化平台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開放原始碼 (AGPLv3) 的伺服器虛擬化平台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整合虛擬機 (KVM/QEMU) 與容器 (LXC)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單一 Web 介面 + RESTful API 管理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2377440"/>
          </a:xfrm>
          <a:prstGeom prst="roundRect">
            <a:avLst>
              <a:gd name="adj" fmla="val 3077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內建企業級能力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7190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 分散式儲存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ZFS 檔案系統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高可用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備份 (PBS) 與快照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防火牆 / 網路 (SDN)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657600"/>
            <a:ext cx="8046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管理介面：https://&lt;pve-ip&gt;:8006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專業支援訂閱：企業版 Repo（EUR 115/年/CPU 起）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= 虛擬化 + 儲存 + 網路 + HA 的整合平台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虛擬化三種形態（觀念）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05840"/>
            <a:ext cx="2057400" cy="530352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30352" y="1005840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形 態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514600" y="1005840"/>
            <a:ext cx="2057400" cy="530352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587752" y="1005840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代表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0" y="1005840"/>
            <a:ext cx="2057400" cy="530352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645152" y="1005840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629400" y="1005840"/>
            <a:ext cx="2057400" cy="530352"/>
          </a:xfrm>
          <a:prstGeom prst="rect">
            <a:avLst/>
          </a:prstGeom>
          <a:solidFill>
            <a:srgbClr val="0E1B33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702552" y="1005840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啟動/密度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57200" y="1536192"/>
            <a:ext cx="2057400" cy="530352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30352" y="153619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Type-1 裸機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514600" y="1536192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587752" y="153619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/ ESXi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0" y="1536192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645152" y="153619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最強（完整 OS）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629400" y="1536192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702552" y="1536192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稍慢・中等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57200" y="2066544"/>
            <a:ext cx="2057400" cy="530352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0352" y="2066544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Type-2 主機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2514600" y="2066544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587752" y="2066544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Workstation/VB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572000" y="2066544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45152" y="2066544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最弱（先裝宿主 OS）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629400" y="2066544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702552" y="2066544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最慢・最佔資源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57200" y="2596896"/>
            <a:ext cx="2057400" cy="530352"/>
          </a:xfrm>
          <a:prstGeom prst="rect">
            <a:avLst/>
          </a:prstGeom>
          <a:solidFill>
            <a:srgbClr val="EAF1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30352" y="2596896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 OS-level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2514600" y="2596896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587752" y="2596896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LXC / Docker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572000" y="2596896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645152" y="2596896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中（共用宿主核心）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6629400" y="2596896"/>
            <a:ext cx="2057400" cy="530352"/>
          </a:xfrm>
          <a:prstGeom prst="rect">
            <a:avLst/>
          </a:prstGeom>
          <a:solidFill>
            <a:srgbClr val="FFFFFF"/>
          </a:solidFill>
          <a:ln w="6350">
            <a:solidFill>
              <a:srgbClr val="D8E0EE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6702552" y="2596896"/>
            <a:ext cx="1938528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最快・密度最高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457200" y="3291840"/>
            <a:ext cx="8229600" cy="1005840"/>
          </a:xfrm>
          <a:prstGeom prst="roundRect">
            <a:avLst>
              <a:gd name="adj" fmla="val 7273"/>
            </a:avLst>
          </a:prstGeom>
          <a:solidFill>
            <a:srgbClr val="EAF1FF"/>
          </a:solidFill>
          <a:ln/>
        </p:spPr>
      </p:sp>
      <p:sp>
        <p:nvSpPr>
          <p:cNvPr id="38" name="Text 36"/>
          <p:cNvSpPr/>
          <p:nvPr/>
        </p:nvSpPr>
        <p:spPr>
          <a:xfrm>
            <a:off x="640080" y="3364992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 PVE 選 Type-1</a:t>
            </a:r>
            <a:endParaRPr lang="en-US" sz="1400" dirty="0"/>
          </a:p>
        </p:txBody>
      </p:sp>
      <p:sp>
        <p:nvSpPr>
          <p:cNvPr id="39" name="Text 37"/>
          <p:cNvSpPr/>
          <p:nvPr/>
        </p:nvSpPr>
        <p:spPr>
          <a:xfrm>
            <a:off x="640080" y="367588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直接跑在硬體、少一層宿主 OS → 效能/穩定/密度最佳，是生產環境標準。</a:t>
            </a:r>
            <a:endParaRPr lang="en-US" sz="1200" dirty="0"/>
          </a:p>
        </p:txBody>
      </p:sp>
      <p:sp>
        <p:nvSpPr>
          <p:cNvPr id="40" name="Shape 38"/>
          <p:cNvSpPr/>
          <p:nvPr/>
        </p:nvSpPr>
        <p:spPr>
          <a:xfrm>
            <a:off x="457200" y="438912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F3F6FC"/>
          </a:solidFill>
          <a:ln/>
        </p:spPr>
      </p:sp>
      <p:sp>
        <p:nvSpPr>
          <p:cNvPr id="41" name="Text 39"/>
          <p:cNvSpPr/>
          <p:nvPr/>
        </p:nvSpPr>
        <p:spPr>
          <a:xfrm>
            <a:off x="640080" y="444398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 K8s：K8s 管「容器」編排，PVE 把 K8s 節點裝成 VM —— 兩層各司其職。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隔離越強越安全也越貴；生產取 Type-1 VM + 應用層容器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PVE 9.x 版本演進（2026 最新）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3F6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94360" y="123444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F7300"/>
          </a:solidFill>
          <a:ln/>
        </p:spPr>
      </p:sp>
      <p:sp>
        <p:nvSpPr>
          <p:cNvPr id="7" name="Text 5"/>
          <p:cNvSpPr/>
          <p:nvPr/>
        </p:nvSpPr>
        <p:spPr>
          <a:xfrm>
            <a:off x="594360" y="13167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9.0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691640" y="12984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2025-08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3108960" y="129844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Debian 13 Trixie、核心 6.14、Ceph Squid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0116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3F6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594360" y="214884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F7300"/>
          </a:solidFill>
          <a:ln/>
        </p:spPr>
      </p:sp>
      <p:sp>
        <p:nvSpPr>
          <p:cNvPr id="12" name="Text 10"/>
          <p:cNvSpPr/>
          <p:nvPr/>
        </p:nvSpPr>
        <p:spPr>
          <a:xfrm>
            <a:off x="594360" y="22311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9.1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691640" y="22128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2025-11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108960" y="221284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多項改善與修正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57200" y="29260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3F6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94360" y="306324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F7300"/>
          </a:solidFill>
          <a:ln/>
        </p:spPr>
      </p:sp>
      <p:sp>
        <p:nvSpPr>
          <p:cNvPr id="17" name="Text 15"/>
          <p:cNvSpPr/>
          <p:nvPr/>
        </p:nvSpPr>
        <p:spPr>
          <a:xfrm>
            <a:off x="594360" y="31455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9.2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691640" y="31272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2026-05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3108960" y="312724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 7.0、Dynamic Load Balancer、WireGuard SDN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57200" y="3840480"/>
            <a:ext cx="8229600" cy="777240"/>
          </a:xfrm>
          <a:prstGeom prst="roundRect">
            <a:avLst>
              <a:gd name="adj" fmla="val 9412"/>
            </a:avLst>
          </a:prstGeom>
          <a:solidFill>
            <a:srgbClr val="F3F6FC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594360" y="3977640"/>
            <a:ext cx="914400" cy="502920"/>
          </a:xfrm>
          <a:prstGeom prst="roundRect">
            <a:avLst>
              <a:gd name="adj" fmla="val 14545"/>
            </a:avLst>
          </a:prstGeom>
          <a:solidFill>
            <a:srgbClr val="FF730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059936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9.x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691640" y="4041648"/>
            <a:ext cx="1280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3108960" y="4041648"/>
            <a:ext cx="5394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原生 Arm64 支援（NVIDIA Grace/Vera）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AF1FF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418795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8.x 已於 2026-08 停止支援（EOL），本課程一律以 9.x 為準。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版本資訊參考 Proxmox 官方 Roadmap / Release Notes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虛擬化技術原理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QEMU/KVM（虛擬機）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KVM：Linux 內建 Type-1 hypervisor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QEMU：裝置模擬層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全虛擬化、效能接近原生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LXC（系統容器）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行程層級隔離、共用宿主核心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啟動快、密度高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節點建議用 VM 而非 LXC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27889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29535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30083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29352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VirtIO（半虛擬化）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35584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虛擬 NIC / 磁碟高效能驅動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Guest 內建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節點必用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2788920"/>
            <a:ext cx="4023360" cy="1554480"/>
          </a:xfrm>
          <a:prstGeom prst="roundRect">
            <a:avLst>
              <a:gd name="adj" fmla="val 4706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29535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30083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29352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qemu-guest-agent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3355848"/>
            <a:ext cx="365760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宿主可取得 Guest IP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執行乾淨關機、快照協調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節點應以 VM 建置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隔離 vs 效能的光譜（觀念）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全虛擬化 (VM)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以為有完整硬體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隔離最強、可跑任意 OS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經 QEMU 模擬有折損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1828800"/>
          </a:xfrm>
          <a:prstGeom prst="roundRect">
            <a:avLst>
              <a:gd name="adj" fmla="val 40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半虛擬化 (VirtIO)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Guest 裝「知道自己是虛擬」的驅動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直接跟 hypervisor 對話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折損大幅降低 (&lt;5%)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22783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328269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320954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容器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3630168"/>
            <a:ext cx="36576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不模擬硬體、共用宿主核心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效能幾乎零折損、密度最高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犧牲多 OS 與強隔離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063240"/>
            <a:ext cx="4023360" cy="1371600"/>
          </a:xfrm>
          <a:prstGeom prst="roundRect">
            <a:avLst>
              <a:gd name="adj" fmla="val 5333"/>
            </a:avLst>
          </a:prstGeom>
          <a:solidFill>
            <a:srgbClr val="EAF1FF"/>
          </a:solidFill>
          <a:ln w="12700">
            <a:solidFill>
              <a:srgbClr val="D8E0E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846320" y="3154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心智模型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846320" y="3493008"/>
            <a:ext cx="3657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隔離越強＝越安全＝越貴（效能/資源）。K8s 生產取「VM 強隔離 + VirtIO 高速」，應用層用容器換密度。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隔離與效能是一條光譜，不是二選一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 type：host vs x86-64-v2-AES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3533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4081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3350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host（效能最高）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755648"/>
            <a:ext cx="365760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暴露宿主完整指令集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5%–25% 更快（DB/AI/加密）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同質硬體適用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但：混合 CPU 硬體無法 live migration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188720"/>
            <a:ext cx="4023360" cy="2926080"/>
          </a:xfrm>
          <a:prstGeom prst="roundRect">
            <a:avLst>
              <a:gd name="adj" fmla="val 2500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3533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4081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3350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x86-64-v2-AES（可攜）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755648"/>
            <a:ext cx="3657600" cy="2267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統一的虛擬 CPU 型號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可跨世代硬體 live migration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異質/需遷移環境適用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效能略低於 host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4297680"/>
            <a:ext cx="8229600" cy="457200"/>
          </a:xfrm>
          <a:prstGeom prst="roundRect">
            <a:avLst>
              <a:gd name="adj" fmla="val 16000"/>
            </a:avLst>
          </a:prstGeom>
          <a:solidFill>
            <a:srgbClr val="EAF1FF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52544"/>
            <a:ext cx="78638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同質硬體 → host；異質/需遷移 → 標準化型號。K8s 節點通常可選 host。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官方建議：欲 live migration 用最低世代相容型號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儲存後端（K8s PV 的基礎）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單節點目錄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/ 模板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91840" y="109728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747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5295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85876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LVM-Thin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74720" y="166420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快照、精簡供應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磁碟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126480" y="109728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30936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36422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9340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ZFS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166420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快照、世代、資料保護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磁碟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256032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" y="27249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694944" y="27797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1024128" y="27066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 (RBD)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640080" y="31272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分散式共用、HA、可擴充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PersistentVolume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3291840" y="2560320"/>
            <a:ext cx="26517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3474720" y="27249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27" name="Shape 25"/>
          <p:cNvSpPr/>
          <p:nvPr/>
        </p:nvSpPr>
        <p:spPr>
          <a:xfrm>
            <a:off x="3529584" y="27797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3858768" y="270662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3474720" y="3127248"/>
            <a:ext cx="22860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網路共用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RWX 應用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457200" y="4114800"/>
            <a:ext cx="8229600" cy="502920"/>
          </a:xfrm>
          <a:prstGeom prst="roundRect">
            <a:avLst>
              <a:gd name="adj" fmla="val 14545"/>
            </a:avLst>
          </a:prstGeom>
          <a:solidFill>
            <a:srgbClr val="EAF1FF"/>
          </a:solidFill>
          <a:ln/>
        </p:spPr>
      </p:sp>
      <p:sp>
        <p:nvSpPr>
          <p:cNvPr id="31" name="Text 29"/>
          <p:cNvSpPr/>
          <p:nvPr/>
        </p:nvSpPr>
        <p:spPr>
          <a:xfrm>
            <a:off x="640080" y="418795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節點虛擬磁碟建議放 Ceph，以支援 VM live migration 與 HA；RWO 用 RBD、RWX 用 CephFS/NFS。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儲存選擇決定 K8s PV 的能力與 HA 上限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精簡供應、快照、超售（觀念）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精簡供應 (Thin)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22860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先「預留」空間，寫入才佔用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省空間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但超載會「寫入失敗」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348386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81304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快照 (Snapshot)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某時間點的磁碟狀態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快速還原/比對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存在原系統內，非備份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51760" cy="2194560"/>
          </a:xfrm>
          <a:prstGeom prst="roundRect">
            <a:avLst>
              <a:gd name="adj" fmla="val 3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0196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超售 (Oversell)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664208"/>
            <a:ext cx="22860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預留總量賣得比實體多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前提：實際用量遠低於預留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適合開發/測試、非生產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57200" y="35204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EAF1FF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593592"/>
            <a:ext cx="7863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心智模型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640080" y="3877056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精簡供應＝先開帳後付款；快照＝時間機器；超售＝多賣房號；三者都靠「實際用遠少於預留」，假設破了就出事。K8s PV capacity 也是「預留」非「保證量」，生產建議配 Ceph quota + PBS 備份。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三者互補：Ceph 硬限制 + PBS 備份 + 快照快速還原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網路：Bridge、VLAN、SDN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Bridge (vmbrX)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連結實體 NIC 與 VM 的 vNIC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透過 vNIC 取得對外網段 IP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CNI 負責 Pod 層次網路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2103120"/>
          </a:xfrm>
          <a:prstGeom prst="roundRect">
            <a:avLst>
              <a:gd name="adj" fmla="val 3478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 / SDN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VLAN：單線切分多個隔離網段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SDN：集中管理跨節點虛擬網路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9.2 新增 Dynamic LB + WireGuard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48640" y="338328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 VM 接在 bridge 後，由 CNI 提供 Pod 網路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大流量叢集建議第二實體 NIC → 專用 bridge 與管理流量隔離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網路規畫是 K8s 叢集穩定性的關鍵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封包流向心智模型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2377440" y="96012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EAF1FF"/>
          </a:solidFill>
          <a:ln w="9525">
            <a:solidFill>
              <a:srgbClr val="326CE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468880" y="96012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內的應用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480560" y="144475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2377440" y="173736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F3F6FC"/>
          </a:solidFill>
          <a:ln w="9525">
            <a:solidFill>
              <a:srgbClr val="326CE5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68880" y="173736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vNIC (VirtIO NIC)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4480560" y="222199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2377440" y="251460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F3F6FC"/>
          </a:solidFill>
          <a:ln w="9525">
            <a:solidFill>
              <a:srgbClr val="326CE5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468880" y="251460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Linux Bridge (vmbrX)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480560" y="2999232"/>
            <a:ext cx="274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▼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2377440" y="3291840"/>
            <a:ext cx="4389120" cy="502920"/>
          </a:xfrm>
          <a:prstGeom prst="roundRect">
            <a:avLst>
              <a:gd name="adj" fmla="val 18182"/>
            </a:avLst>
          </a:prstGeom>
          <a:solidFill>
            <a:srgbClr val="F3F6FC"/>
          </a:solidFill>
          <a:ln w="9525">
            <a:solidFill>
              <a:srgbClr val="326CE5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468880" y="3291840"/>
            <a:ext cx="4206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實體 NIC → 實體交換機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548640" y="4087368"/>
            <a:ext cx="109728" cy="109728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Text 15"/>
          <p:cNvSpPr/>
          <p:nvPr/>
        </p:nvSpPr>
        <p:spPr>
          <a:xfrm>
            <a:off x="713232" y="40416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是「交換機」　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103120" y="4041648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按 MAC 轉發、不經 IP 層（不像 NAT），同網段 VM 間交換 MAC 即可、效能接近原生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48640" y="4370832"/>
            <a:ext cx="109728" cy="109728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0" name="Text 18"/>
          <p:cNvSpPr/>
          <p:nvPr/>
        </p:nvSpPr>
        <p:spPr>
          <a:xfrm>
            <a:off x="713232" y="432511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是「真機」　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03120" y="4325112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與外部實體主機平起平坐：可 ping、可路由、可用 VLAN / ACL / QoS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548640" y="4654296"/>
            <a:ext cx="109728" cy="109728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3" name="Text 21"/>
          <p:cNvSpPr/>
          <p:nvPr/>
        </p:nvSpPr>
        <p:spPr>
          <a:xfrm>
            <a:off x="713232" y="46085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26CE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 K8s 的分界　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103120" y="4608576"/>
            <a:ext cx="6583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bridge 管「節點（VM）間與對外」；Pod 間才由 CNI 管（Class 3）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生產 K8s 用 Bridge（雙向、可預測 IP）而非 NAT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叢集、HA、備份、快照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叢集 (Cluster)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22860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corosync + pve-cluster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多節點共用 Web/API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 資源池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246120" y="109728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42900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2" name="Shape 10"/>
          <p:cNvSpPr/>
          <p:nvPr/>
        </p:nvSpPr>
        <p:spPr>
          <a:xfrm>
            <a:off x="348386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381304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429000" y="1664208"/>
            <a:ext cx="22860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監控 VM 健康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節點故障→他節點重啟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需共用儲存 (Ceph)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035040" y="1097280"/>
            <a:ext cx="2651760" cy="2103120"/>
          </a:xfrm>
          <a:prstGeom prst="roundRect">
            <a:avLst>
              <a:gd name="adj" fmla="val 3478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2179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7" name="Shape 15"/>
          <p:cNvSpPr/>
          <p:nvPr/>
        </p:nvSpPr>
        <p:spPr>
          <a:xfrm>
            <a:off x="62727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6601968" y="1243584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備份 / 快照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217920" y="1664208"/>
            <a:ext cx="228600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vzdump 產生備份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PBS 去重/加密/增量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快照可還原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48640" y="3383280"/>
            <a:ext cx="8046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K8s 節點升級 / 實驗前，先在 PVE 層打快照是良好習慣</a:t>
            </a:r>
            <a:endParaRPr lang="en-US" sz="1300" dirty="0"/>
          </a:p>
          <a:p>
            <a:pPr marL="342900" indent="-342900">
              <a:lnSpc>
                <a:spcPts val="2400"/>
              </a:lnSpc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備份 vs K8s 應用備份需分層規劃（Class 6 詳述）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提供「基礎設施層」HA，K8s 處理應用層自癒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高可用觀念（quorum 與重啟）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457200" y="109728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40080" y="126187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7" name="Shape 5"/>
          <p:cNvSpPr/>
          <p:nvPr/>
        </p:nvSpPr>
        <p:spPr>
          <a:xfrm>
            <a:off x="69494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8" name="Text 6"/>
          <p:cNvSpPr/>
          <p:nvPr/>
        </p:nvSpPr>
        <p:spPr>
          <a:xfrm>
            <a:off x="102412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 法定人數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640080" y="1664208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叢集要「多數節點存活」才認帳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節集容許 1 掉、5 容許 2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HA 要「奇數節點」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偶數 2 掉時「2 對 2」無法決定正統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63440" y="1097280"/>
            <a:ext cx="4023360" cy="2194560"/>
          </a:xfrm>
          <a:prstGeom prst="roundRect">
            <a:avLst>
              <a:gd name="adj" fmla="val 3333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26187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12" name="Shape 10"/>
          <p:cNvSpPr/>
          <p:nvPr/>
        </p:nvSpPr>
        <p:spPr>
          <a:xfrm>
            <a:off x="4901184" y="131673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3" name="Text 11"/>
          <p:cNvSpPr/>
          <p:nvPr/>
        </p:nvSpPr>
        <p:spPr>
          <a:xfrm>
            <a:off x="5230368" y="124358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HA＝重啟，非無縫接管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846320" y="1664208"/>
            <a:ext cx="3657600" cy="15361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節點掛 → VM 在別節點「重新開機」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秒~分鐘級中斷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（非 VMware FT 的零中斷熱遷移）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" y="347472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40080" y="3639312"/>
            <a:ext cx="365760" cy="365760"/>
          </a:xfrm>
          <a:prstGeom prst="ellipse">
            <a:avLst/>
          </a:prstGeom>
          <a:solidFill>
            <a:srgbClr val="326CE5"/>
          </a:solidFill>
          <a:ln/>
        </p:spPr>
      </p:sp>
      <p:sp>
        <p:nvSpPr>
          <p:cNvPr id="17" name="Shape 15"/>
          <p:cNvSpPr/>
          <p:nvPr/>
        </p:nvSpPr>
        <p:spPr>
          <a:xfrm>
            <a:off x="694944" y="36941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18" name="Text 16"/>
          <p:cNvSpPr/>
          <p:nvPr/>
        </p:nvSpPr>
        <p:spPr>
          <a:xfrm>
            <a:off x="1024128" y="36210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Split-brain 腦裂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04164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網路割裂讓兩組各認自己多數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Ceph 靠 quorum+副本仲裁避免雙寫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663440" y="3474720"/>
            <a:ext cx="4023360" cy="1280160"/>
          </a:xfrm>
          <a:prstGeom prst="roundRect">
            <a:avLst>
              <a:gd name="adj" fmla="val 5714"/>
            </a:avLst>
          </a:prstGeom>
          <a:solidFill>
            <a:srgbClr val="F3F6FC"/>
          </a:solidFill>
          <a:ln w="9525">
            <a:solidFill>
              <a:srgbClr val="D8E0E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846320" y="3639312"/>
            <a:ext cx="365760" cy="365760"/>
          </a:xfrm>
          <a:prstGeom prst="ellipse">
            <a:avLst/>
          </a:prstGeom>
          <a:solidFill>
            <a:srgbClr val="FF7300"/>
          </a:solidFill>
          <a:ln/>
        </p:spPr>
      </p:sp>
      <p:sp>
        <p:nvSpPr>
          <p:cNvPr id="22" name="Shape 20"/>
          <p:cNvSpPr/>
          <p:nvPr/>
        </p:nvSpPr>
        <p:spPr>
          <a:xfrm>
            <a:off x="4901184" y="3694176"/>
            <a:ext cx="256032" cy="256032"/>
          </a:xfrm>
          <a:prstGeom prst="ellipse">
            <a:avLst/>
          </a:prstGeom>
          <a:solidFill>
            <a:srgbClr val="FFFFFF"/>
          </a:solidFill>
          <a:ln/>
        </p:spPr>
      </p:sp>
      <p:sp>
        <p:nvSpPr>
          <p:cNvPr id="23" name="Text 21"/>
          <p:cNvSpPr/>
          <p:nvPr/>
        </p:nvSpPr>
        <p:spPr>
          <a:xfrm>
            <a:off x="5230368" y="3621024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B3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分層容錯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4846320" y="4041648"/>
            <a:ext cx="36576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HA(單點故障) + 備份(災難/PITR) + K8s(應用自癒)</a:t>
            </a:r>
            <a:endParaRPr lang="en-US" sz="1100" dirty="0"/>
          </a:p>
          <a:p>
            <a:pPr indent="0" marL="0">
              <a:lnSpc>
                <a:spcPts val="1500"/>
              </a:lnSpc>
              <a:buNone/>
            </a:pPr>
            <a:r>
              <a:rPr lang="en-US" sz="11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三層互補、不互相取代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quorum=開會過半數；HA=一台倒了另一台頂上(重開)；備份=保險箱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384048"/>
            <a:ext cx="146304" cy="457200"/>
          </a:xfrm>
          <a:prstGeom prst="roundRect">
            <a:avLst>
              <a:gd name="adj" fmla="val 31250"/>
            </a:avLst>
          </a:prstGeom>
          <a:solidFill>
            <a:srgbClr val="FF73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2743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E1B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Lab 1 實作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412480" y="320040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548640" y="1097280"/>
            <a:ext cx="804672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建立一台測試 VM（或使用範本）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建立快照並還原（qm snapshot / qm rollback）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執行一次 vzdump 備份並產出備份檔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新增第二張 VirtIO NIC 接到專用 bridge vmbr1</a:t>
            </a:r>
            <a:endParaRPr lang="en-US" sz="1500" dirty="0"/>
          </a:p>
          <a:p>
            <a:pPr marL="342900" indent="-342900">
              <a:lnSpc>
                <a:spcPts val="3000"/>
              </a:lnSpc>
              <a:spcAft>
                <a:spcPts val="1000"/>
              </a:spcAft>
              <a:buSzPct val="100000"/>
              <a:buChar char="•"/>
            </a:pPr>
            <a:r>
              <a:rPr lang="en-US" sz="1500" dirty="0">
                <a:solidFill>
                  <a:srgbClr val="1F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體驗 PVE Web UI 的 VM / 快照 / 備份操作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4892040"/>
            <a:ext cx="8229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A6B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詳見 lab-01-pve-overview.md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E1B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56032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73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 · 完成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48640" y="640080"/>
            <a:ext cx="8046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下一步：K8s 核心架構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1463040"/>
            <a:ext cx="7863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搞懂控制平面與工作節點的運作原理。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29260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PVE 是承載 K8s 的堅實地基——虛擬化、儲存、網路、HA 皆備。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Class 1 - Proxmox VE 虛擬化平台概論</dc:title>
  <dc:subject>PptxGenJS Presentation</dc:subject>
  <dc:creator>AI_assist</dc:creator>
  <cp:lastModifiedBy>AI_assist</cp:lastModifiedBy>
  <cp:revision>1</cp:revision>
  <dcterms:created xsi:type="dcterms:W3CDTF">2026-08-31T07:26:13Z</dcterms:created>
  <dcterms:modified xsi:type="dcterms:W3CDTF">2026-08-31T07:26:13Z</dcterms:modified>
</cp:coreProperties>
</file>